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33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9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8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25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5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16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2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7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80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EC03C-444C-4CC3-B6D0-7971160B1D23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5776F-E3C6-41EB-A20C-A2064D8118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2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eycloak.org/download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zeyn-app/keycloak-spring-boot-integration/blob/main/docker-compose.y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.spring.io/" TargetMode="External"/><Relationship Id="rId2" Type="http://schemas.openxmlformats.org/officeDocument/2006/relationships/hyperlink" Target="http://localhost:8080/realms/SpringBootKeycloakProject/protocol/openid-connect/toke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realms/SpringBootDemoKeycloak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Keycloak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93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6817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/>
              <a:t>Keycloak</a:t>
            </a:r>
            <a:r>
              <a:rPr lang="en-US" sz="2400" dirty="0"/>
              <a:t>, </a:t>
            </a:r>
            <a:r>
              <a:rPr lang="en-US" sz="2400" dirty="0" err="1"/>
              <a:t>RedHat</a:t>
            </a:r>
            <a:r>
              <a:rPr lang="en-US" sz="2400" dirty="0"/>
              <a:t> </a:t>
            </a:r>
            <a:r>
              <a:rPr lang="en-US" sz="2400" dirty="0" err="1"/>
              <a:t>tarafından</a:t>
            </a:r>
            <a:r>
              <a:rPr lang="en-US" sz="2400" dirty="0"/>
              <a:t> </a:t>
            </a:r>
            <a:r>
              <a:rPr lang="en-US" sz="2400" dirty="0" err="1"/>
              <a:t>desteklenen</a:t>
            </a:r>
            <a:r>
              <a:rPr lang="en-US" sz="2400" dirty="0"/>
              <a:t>, java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yazılmış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kaynak</a:t>
            </a:r>
            <a:r>
              <a:rPr lang="en-US" sz="2400" dirty="0"/>
              <a:t> </a:t>
            </a:r>
            <a:r>
              <a:rPr lang="en-US" sz="2400" dirty="0" err="1"/>
              <a:t>kodlu</a:t>
            </a:r>
            <a:r>
              <a:rPr lang="en-US" sz="2400" dirty="0"/>
              <a:t> bir </a:t>
            </a:r>
            <a:r>
              <a:rPr lang="en-US" sz="2400" dirty="0" err="1"/>
              <a:t>kimlik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erişim</a:t>
            </a:r>
            <a:r>
              <a:rPr lang="en-US" sz="2400" dirty="0"/>
              <a:t> </a:t>
            </a:r>
            <a:r>
              <a:rPr lang="en-US" sz="2400" dirty="0" err="1"/>
              <a:t>yönetim</a:t>
            </a:r>
            <a:r>
              <a:rPr lang="en-US" sz="2400" dirty="0"/>
              <a:t> </a:t>
            </a:r>
            <a:r>
              <a:rPr lang="en-US" sz="2400" dirty="0" err="1"/>
              <a:t>aracıdır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r>
              <a:rPr lang="en-US" sz="2400" dirty="0" err="1" smtClean="0"/>
              <a:t>Kimlik</a:t>
            </a:r>
            <a:r>
              <a:rPr lang="en-US" sz="2400" dirty="0" smtClean="0"/>
              <a:t> </a:t>
            </a:r>
            <a:r>
              <a:rPr lang="en-US" sz="2400" dirty="0" err="1"/>
              <a:t>doğrulama</a:t>
            </a:r>
            <a:r>
              <a:rPr lang="en-US" sz="2400" dirty="0"/>
              <a:t>, </a:t>
            </a:r>
            <a:r>
              <a:rPr lang="en-US" sz="2400" dirty="0" err="1"/>
              <a:t>kullanıcı</a:t>
            </a:r>
            <a:r>
              <a:rPr lang="en-US" sz="2400" dirty="0"/>
              <a:t> </a:t>
            </a:r>
            <a:r>
              <a:rPr lang="en-US" sz="2400" dirty="0" err="1"/>
              <a:t>yetkilendirme</a:t>
            </a:r>
            <a:r>
              <a:rPr lang="en-US" sz="2400" dirty="0"/>
              <a:t>, </a:t>
            </a:r>
            <a:r>
              <a:rPr lang="en-US" sz="2400" dirty="0" err="1"/>
              <a:t>kullanıcı</a:t>
            </a:r>
            <a:r>
              <a:rPr lang="en-US" sz="2400" dirty="0"/>
              <a:t> </a:t>
            </a:r>
            <a:r>
              <a:rPr lang="en-US" sz="2400" dirty="0" err="1"/>
              <a:t>yönetimi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user federation (</a:t>
            </a:r>
            <a:r>
              <a:rPr lang="en-US" sz="2400" dirty="0" err="1"/>
              <a:t>kimlik</a:t>
            </a:r>
            <a:r>
              <a:rPr lang="en-US" sz="2400" dirty="0"/>
              <a:t> </a:t>
            </a:r>
            <a:r>
              <a:rPr lang="en-US" sz="2400" dirty="0" err="1"/>
              <a:t>bilgilerinin</a:t>
            </a:r>
            <a:r>
              <a:rPr lang="en-US" sz="2400" dirty="0"/>
              <a:t> </a:t>
            </a:r>
            <a:r>
              <a:rPr lang="en-US" sz="2400" dirty="0" err="1"/>
              <a:t>harici</a:t>
            </a:r>
            <a:r>
              <a:rPr lang="en-US" sz="2400" dirty="0"/>
              <a:t> bir </a:t>
            </a:r>
            <a:r>
              <a:rPr lang="en-US" sz="2400" dirty="0" err="1"/>
              <a:t>sistemden</a:t>
            </a:r>
            <a:r>
              <a:rPr lang="en-US" sz="2400" dirty="0"/>
              <a:t> bir </a:t>
            </a:r>
            <a:r>
              <a:rPr lang="en-US" sz="2400" b="1" dirty="0" err="1"/>
              <a:t>protokol</a:t>
            </a:r>
            <a:r>
              <a:rPr lang="en-US" sz="2400" b="1" dirty="0"/>
              <a:t> (</a:t>
            </a:r>
            <a:r>
              <a:rPr lang="en-US" sz="2400" b="1" dirty="0" err="1"/>
              <a:t>örn</a:t>
            </a:r>
            <a:r>
              <a:rPr lang="en-US" sz="2400" b="1" dirty="0"/>
              <a:t> LDAP) </a:t>
            </a:r>
            <a:r>
              <a:rPr lang="en-US" sz="2400" dirty="0" err="1"/>
              <a:t>üzerinden</a:t>
            </a:r>
            <a:r>
              <a:rPr lang="en-US" sz="2400" dirty="0"/>
              <a:t> </a:t>
            </a:r>
            <a:r>
              <a:rPr lang="en-US" sz="2400" dirty="0" err="1"/>
              <a:t>erişilerek</a:t>
            </a:r>
            <a:r>
              <a:rPr lang="en-US" sz="2400" dirty="0"/>
              <a:t> </a:t>
            </a:r>
            <a:r>
              <a:rPr lang="en-US" sz="2400" dirty="0" err="1"/>
              <a:t>doğrulanması</a:t>
            </a:r>
            <a:r>
              <a:rPr lang="en-US" sz="2400" dirty="0"/>
              <a:t>)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dirty="0" err="1"/>
              <a:t>konulara</a:t>
            </a:r>
            <a:r>
              <a:rPr lang="en-US" sz="2400" dirty="0"/>
              <a:t> </a:t>
            </a:r>
            <a:r>
              <a:rPr lang="en-US" sz="2400" dirty="0" err="1"/>
              <a:t>çözüm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geliştirilse</a:t>
            </a:r>
            <a:r>
              <a:rPr lang="en-US" sz="2400" dirty="0"/>
              <a:t> de </a:t>
            </a:r>
            <a:r>
              <a:rPr lang="en-US" sz="2400" dirty="0" err="1"/>
              <a:t>esas</a:t>
            </a:r>
            <a:r>
              <a:rPr lang="en-US" sz="2400" dirty="0"/>
              <a:t> </a:t>
            </a:r>
            <a:r>
              <a:rPr lang="en-US" sz="2400" dirty="0" err="1"/>
              <a:t>odaklandığı</a:t>
            </a:r>
            <a:r>
              <a:rPr lang="en-US" sz="2400" dirty="0"/>
              <a:t> </a:t>
            </a:r>
            <a:r>
              <a:rPr lang="en-US" sz="2400" dirty="0" err="1"/>
              <a:t>nokta</a:t>
            </a:r>
            <a:r>
              <a:rPr lang="en-US" sz="2400" dirty="0"/>
              <a:t>, </a:t>
            </a:r>
            <a:r>
              <a:rPr lang="en-US" sz="2400" b="1" dirty="0"/>
              <a:t>SSO (Single Sign-On) </a:t>
            </a:r>
            <a:r>
              <a:rPr lang="en-US" sz="2400" dirty="0" err="1"/>
              <a:t>dediğimiz</a:t>
            </a:r>
            <a:r>
              <a:rPr lang="en-US" sz="2400" dirty="0"/>
              <a:t>, </a:t>
            </a:r>
            <a:r>
              <a:rPr lang="en-US" sz="2400" dirty="0" err="1"/>
              <a:t>birden</a:t>
            </a:r>
            <a:r>
              <a:rPr lang="en-US" sz="2400" dirty="0"/>
              <a:t> </a:t>
            </a:r>
            <a:r>
              <a:rPr lang="en-US" sz="2400" dirty="0" err="1"/>
              <a:t>fazla</a:t>
            </a:r>
            <a:r>
              <a:rPr lang="en-US" sz="2400" dirty="0"/>
              <a:t> </a:t>
            </a:r>
            <a:r>
              <a:rPr lang="en-US" sz="2400" dirty="0" err="1"/>
              <a:t>uygulamaya</a:t>
            </a:r>
            <a:r>
              <a:rPr lang="en-US" sz="2400" dirty="0"/>
              <a:t> </a:t>
            </a:r>
            <a:r>
              <a:rPr lang="en-US" sz="2400" dirty="0" err="1"/>
              <a:t>giriş</a:t>
            </a:r>
            <a:r>
              <a:rPr lang="en-US" sz="2400" dirty="0"/>
              <a:t> </a:t>
            </a:r>
            <a:r>
              <a:rPr lang="en-US" sz="2400" dirty="0" err="1"/>
              <a:t>yapma</a:t>
            </a:r>
            <a:r>
              <a:rPr lang="en-US" sz="2400" dirty="0"/>
              <a:t> </a:t>
            </a:r>
            <a:r>
              <a:rPr lang="en-US" sz="2400" dirty="0" err="1"/>
              <a:t>yönetiminin</a:t>
            </a:r>
            <a:r>
              <a:rPr lang="en-US" sz="2400" dirty="0"/>
              <a:t> </a:t>
            </a:r>
            <a:r>
              <a:rPr lang="en-US" sz="2400" dirty="0" err="1"/>
              <a:t>tekilleştirmesi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ortaklaştırılması</a:t>
            </a:r>
            <a:r>
              <a:rPr lang="en-US" sz="2400" dirty="0"/>
              <a:t> </a:t>
            </a:r>
            <a:r>
              <a:rPr lang="en-US" sz="2400" dirty="0" err="1"/>
              <a:t>işlemidir</a:t>
            </a:r>
            <a:r>
              <a:rPr lang="en-US" sz="2400" dirty="0"/>
              <a:t>. </a:t>
            </a:r>
            <a:r>
              <a:rPr lang="en-US" sz="2400" dirty="0" err="1"/>
              <a:t>Örneğin</a:t>
            </a:r>
            <a:r>
              <a:rPr lang="en-US" sz="2400" dirty="0"/>
              <a:t>, ilk </a:t>
            </a:r>
            <a:r>
              <a:rPr lang="en-US" sz="2400" dirty="0" err="1"/>
              <a:t>defa</a:t>
            </a:r>
            <a:r>
              <a:rPr lang="en-US" sz="2400" dirty="0"/>
              <a:t> </a:t>
            </a:r>
            <a:r>
              <a:rPr lang="en-US" sz="2400" dirty="0" err="1"/>
              <a:t>giriş</a:t>
            </a:r>
            <a:r>
              <a:rPr lang="en-US" sz="2400" dirty="0"/>
              <a:t> </a:t>
            </a:r>
            <a:r>
              <a:rPr lang="en-US" sz="2400" dirty="0" err="1"/>
              <a:t>yapılacak</a:t>
            </a:r>
            <a:r>
              <a:rPr lang="en-US" sz="2400" dirty="0"/>
              <a:t> bir </a:t>
            </a:r>
            <a:r>
              <a:rPr lang="en-US" sz="2400" dirty="0" err="1"/>
              <a:t>uygulamada</a:t>
            </a:r>
            <a:r>
              <a:rPr lang="en-US" sz="2400" dirty="0"/>
              <a:t> form </a:t>
            </a:r>
            <a:r>
              <a:rPr lang="en-US" sz="2400" dirty="0" err="1"/>
              <a:t>işlemlerini</a:t>
            </a:r>
            <a:r>
              <a:rPr lang="en-US" sz="2400" dirty="0"/>
              <a:t> </a:t>
            </a:r>
            <a:r>
              <a:rPr lang="en-US" sz="2400" dirty="0" err="1"/>
              <a:t>gerçekleştirmeye</a:t>
            </a:r>
            <a:r>
              <a:rPr lang="en-US" sz="2400" dirty="0"/>
              <a:t> </a:t>
            </a:r>
            <a:r>
              <a:rPr lang="en-US" sz="2400" dirty="0" err="1"/>
              <a:t>gerek</a:t>
            </a:r>
            <a:r>
              <a:rPr lang="en-US" sz="2400" dirty="0"/>
              <a:t> </a:t>
            </a:r>
            <a:r>
              <a:rPr lang="en-US" sz="2400" dirty="0" err="1"/>
              <a:t>kalmadan</a:t>
            </a:r>
            <a:r>
              <a:rPr lang="en-US" sz="2400" dirty="0"/>
              <a:t>, </a:t>
            </a:r>
            <a:r>
              <a:rPr lang="en-US" sz="2400" b="1" dirty="0"/>
              <a:t>LinkedIn, Google, </a:t>
            </a:r>
            <a:r>
              <a:rPr lang="en-US" sz="2400" b="1" dirty="0" err="1"/>
              <a:t>GitHub</a:t>
            </a:r>
            <a:r>
              <a:rPr lang="en-US" sz="2400" dirty="0"/>
              <a:t>, vb. </a:t>
            </a:r>
            <a:r>
              <a:rPr lang="en-US" sz="2400" dirty="0" err="1"/>
              <a:t>kişisel</a:t>
            </a:r>
            <a:r>
              <a:rPr lang="en-US" sz="2400" dirty="0"/>
              <a:t> </a:t>
            </a:r>
            <a:r>
              <a:rPr lang="en-US" sz="2400" dirty="0" err="1"/>
              <a:t>hesaplar</a:t>
            </a:r>
            <a:r>
              <a:rPr lang="en-US" sz="2400" dirty="0"/>
              <a:t> </a:t>
            </a:r>
            <a:r>
              <a:rPr lang="en-US" sz="2400" dirty="0" err="1"/>
              <a:t>kullanılarak</a:t>
            </a:r>
            <a:r>
              <a:rPr lang="en-US" sz="2400" dirty="0"/>
              <a:t> </a:t>
            </a:r>
            <a:r>
              <a:rPr lang="en-US" sz="2400" dirty="0" err="1"/>
              <a:t>doğrudan</a:t>
            </a:r>
            <a:r>
              <a:rPr lang="en-US" sz="2400" dirty="0"/>
              <a:t> </a:t>
            </a:r>
            <a:r>
              <a:rPr lang="en-US" sz="2400" dirty="0" err="1"/>
              <a:t>giriş</a:t>
            </a:r>
            <a:r>
              <a:rPr lang="en-US" sz="2400" dirty="0"/>
              <a:t> </a:t>
            </a:r>
            <a:r>
              <a:rPr lang="en-US" sz="2400" dirty="0" err="1"/>
              <a:t>yapılabilmesini</a:t>
            </a:r>
            <a:r>
              <a:rPr lang="en-US" sz="2400" dirty="0"/>
              <a:t> </a:t>
            </a:r>
            <a:r>
              <a:rPr lang="en-US" sz="2400" dirty="0" err="1"/>
              <a:t>sağlar</a:t>
            </a:r>
            <a:r>
              <a:rPr lang="en-US" sz="2400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31" y="958467"/>
            <a:ext cx="10439937" cy="370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64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Keycloak</a:t>
            </a:r>
            <a:r>
              <a:rPr lang="en-US" b="1" dirty="0"/>
              <a:t> </a:t>
            </a:r>
            <a:r>
              <a:rPr lang="en-US" b="1" dirty="0" err="1"/>
              <a:t>Kurulum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Konfigürasyonu</a:t>
            </a:r>
            <a:endParaRPr lang="en-US" dirty="0"/>
          </a:p>
          <a:p>
            <a:pPr marL="0" indent="0">
              <a:buNone/>
            </a:pPr>
            <a:r>
              <a:rPr lang="en-US" b="1" dirty="0" err="1" smtClean="0"/>
              <a:t>Keycloak</a:t>
            </a:r>
            <a:r>
              <a:rPr lang="en-US" dirty="0"/>
              <a:t>’ un </a:t>
            </a:r>
            <a:r>
              <a:rPr lang="tr-TR" dirty="0" smtClean="0"/>
              <a:t>çalışması </a:t>
            </a:r>
            <a:r>
              <a:rPr lang="en-US" dirty="0" err="1" smtClean="0"/>
              <a:t>için</a:t>
            </a:r>
            <a:r>
              <a:rPr lang="en-US" dirty="0" smtClean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yöntem</a:t>
            </a:r>
            <a:r>
              <a:rPr lang="en-US" dirty="0"/>
              <a:t> </a:t>
            </a:r>
            <a:r>
              <a:rPr lang="en-US" dirty="0" err="1" smtClean="0"/>
              <a:t>kullanacağı</a:t>
            </a:r>
            <a:r>
              <a:rPr lang="tr-TR" dirty="0" smtClean="0"/>
              <a:t>z</a:t>
            </a:r>
            <a:r>
              <a:rPr lang="en-US" dirty="0" smtClean="0"/>
              <a:t>. </a:t>
            </a:r>
            <a:r>
              <a:rPr lang="en-US" dirty="0"/>
              <a:t>İlk </a:t>
            </a:r>
            <a:r>
              <a:rPr lang="en-US" dirty="0" err="1"/>
              <a:t>yöntem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b="1" dirty="0" err="1"/>
              <a:t>Keycloak</a:t>
            </a:r>
            <a:r>
              <a:rPr lang="en-US" dirty="0"/>
              <a:t>’ u </a:t>
            </a:r>
            <a:r>
              <a:rPr lang="en-US" dirty="0" err="1"/>
              <a:t>lokalimize</a:t>
            </a:r>
            <a:r>
              <a:rPr lang="en-US" dirty="0"/>
              <a:t> </a:t>
            </a:r>
            <a:r>
              <a:rPr lang="en-US" dirty="0" err="1"/>
              <a:t>indirip</a:t>
            </a:r>
            <a:r>
              <a:rPr lang="en-US" dirty="0"/>
              <a:t>, </a:t>
            </a:r>
            <a:r>
              <a:rPr lang="en-US" dirty="0" err="1"/>
              <a:t>konfigürasyon</a:t>
            </a:r>
            <a:r>
              <a:rPr lang="en-US" dirty="0"/>
              <a:t> </a:t>
            </a:r>
            <a:r>
              <a:rPr lang="en-US" dirty="0" err="1"/>
              <a:t>işlemlerini</a:t>
            </a:r>
            <a:r>
              <a:rPr lang="en-US" dirty="0"/>
              <a:t> </a:t>
            </a:r>
            <a:r>
              <a:rPr lang="en-US" dirty="0" err="1"/>
              <a:t>manuel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gerçekleştireceğiz</a:t>
            </a:r>
            <a:r>
              <a:rPr lang="en-US" dirty="0"/>
              <a:t>. </a:t>
            </a:r>
            <a:r>
              <a:rPr lang="en-US" dirty="0" err="1"/>
              <a:t>İkinci</a:t>
            </a:r>
            <a:r>
              <a:rPr lang="en-US" dirty="0"/>
              <a:t> </a:t>
            </a:r>
            <a:r>
              <a:rPr lang="en-US" dirty="0" err="1"/>
              <a:t>yöntemde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b="1" dirty="0" err="1"/>
              <a:t>docker</a:t>
            </a:r>
            <a:r>
              <a:rPr lang="en-US" b="1" dirty="0"/>
              <a:t>-compose</a:t>
            </a:r>
            <a:r>
              <a:rPr lang="en-US" dirty="0"/>
              <a:t>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sunucuyu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en-US" dirty="0" err="1"/>
              <a:t>kaldıracağız</a:t>
            </a:r>
            <a:r>
              <a:rPr lang="en-US" dirty="0"/>
              <a:t>. İlk </a:t>
            </a:r>
            <a:r>
              <a:rPr lang="en-US" dirty="0" err="1"/>
              <a:t>yöntem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Keycloak-23.0.6 </a:t>
            </a:r>
            <a:r>
              <a:rPr lang="en-US" dirty="0" err="1"/>
              <a:t>versiyonu</a:t>
            </a:r>
            <a:r>
              <a:rPr lang="en-US" dirty="0"/>
              <a:t> </a:t>
            </a:r>
            <a:r>
              <a:rPr lang="en-US" i="1" u="sng" dirty="0" err="1">
                <a:hlinkClick r:id="rId2"/>
              </a:rPr>
              <a:t>indirildikten</a:t>
            </a:r>
            <a:r>
              <a:rPr lang="en-US" dirty="0"/>
              <a:t> </a:t>
            </a:r>
            <a:r>
              <a:rPr lang="en-US" dirty="0" err="1"/>
              <a:t>sonra</a:t>
            </a:r>
            <a:r>
              <a:rPr lang="en-US" dirty="0"/>
              <a:t>, </a:t>
            </a:r>
            <a:r>
              <a:rPr lang="en-US" b="1" i="1" dirty="0" err="1"/>
              <a:t>conf</a:t>
            </a:r>
            <a:r>
              <a:rPr lang="en-US" dirty="0"/>
              <a:t> </a:t>
            </a:r>
            <a:r>
              <a:rPr lang="en-US" dirty="0" err="1"/>
              <a:t>klasörü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 </a:t>
            </a:r>
            <a:r>
              <a:rPr lang="en-US" i="1" dirty="0" err="1"/>
              <a:t>keycloak.conf</a:t>
            </a:r>
            <a:r>
              <a:rPr lang="en-US" dirty="0"/>
              <a:t> 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açılır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şekildeki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tabanı</a:t>
            </a:r>
            <a:r>
              <a:rPr lang="en-US" dirty="0"/>
              <a:t> </a:t>
            </a:r>
            <a:r>
              <a:rPr lang="en-US" dirty="0" err="1"/>
              <a:t>konfigürasyon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eklenir</a:t>
            </a:r>
            <a:r>
              <a:rPr lang="en-US" dirty="0"/>
              <a:t>. Bu </a:t>
            </a:r>
            <a:r>
              <a:rPr lang="en-US" dirty="0" err="1"/>
              <a:t>adım</a:t>
            </a:r>
            <a:r>
              <a:rPr lang="en-US" dirty="0"/>
              <a:t> </a:t>
            </a:r>
            <a:r>
              <a:rPr lang="en-US" dirty="0" err="1"/>
              <a:t>yapılmazsa</a:t>
            </a:r>
            <a:r>
              <a:rPr lang="en-US" dirty="0"/>
              <a:t> default </a:t>
            </a:r>
            <a:r>
              <a:rPr lang="en-US" dirty="0" err="1"/>
              <a:t>olarak</a:t>
            </a:r>
            <a:r>
              <a:rPr lang="en-US" dirty="0"/>
              <a:t> h2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tabanı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3668617"/>
            <a:ext cx="11532193" cy="302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30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 </a:t>
            </a:r>
            <a:r>
              <a:rPr lang="en-US" i="1" dirty="0"/>
              <a:t>bin</a:t>
            </a:r>
            <a:r>
              <a:rPr lang="en-US" dirty="0"/>
              <a:t> </a:t>
            </a:r>
            <a:r>
              <a:rPr lang="en-US" dirty="0" err="1"/>
              <a:t>klasörünün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 </a:t>
            </a:r>
            <a:r>
              <a:rPr lang="en-US" b="1" i="1" dirty="0"/>
              <a:t>kc.[</a:t>
            </a:r>
            <a:r>
              <a:rPr lang="en-US" b="1" i="1" dirty="0" err="1"/>
              <a:t>sh</a:t>
            </a:r>
            <a:r>
              <a:rPr lang="en-US" b="1" i="1" dirty="0"/>
              <a:t>][bat]</a:t>
            </a:r>
            <a:r>
              <a:rPr lang="en-US" dirty="0"/>
              <a:t> (</a:t>
            </a:r>
            <a:r>
              <a:rPr lang="en-US" dirty="0" err="1"/>
              <a:t>linux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sh</a:t>
            </a:r>
            <a:r>
              <a:rPr lang="en-US" dirty="0"/>
              <a:t>, windows </a:t>
            </a:r>
            <a:r>
              <a:rPr lang="en-US" dirty="0" err="1"/>
              <a:t>için</a:t>
            </a:r>
            <a:r>
              <a:rPr lang="en-US" dirty="0"/>
              <a:t> bat) </a:t>
            </a:r>
            <a:r>
              <a:rPr lang="en-US" dirty="0" err="1"/>
              <a:t>dosyası</a:t>
            </a:r>
            <a:r>
              <a:rPr lang="en-US" dirty="0"/>
              <a:t>, </a:t>
            </a:r>
            <a:r>
              <a:rPr lang="en-US" i="1" dirty="0"/>
              <a:t>./kc.sh start-</a:t>
            </a:r>
            <a:r>
              <a:rPr lang="en-US" i="1" dirty="0" err="1"/>
              <a:t>dev</a:t>
            </a:r>
            <a:r>
              <a:rPr lang="en-US" i="1" dirty="0"/>
              <a:t> </a:t>
            </a:r>
            <a:r>
              <a:rPr lang="en-US" dirty="0" err="1"/>
              <a:t>komutu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çalıştırılıp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en-US" dirty="0" err="1"/>
              <a:t>kaldırılır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dirty="0"/>
              <a:t>Admin </a:t>
            </a:r>
            <a:r>
              <a:rPr lang="en-US" dirty="0" err="1"/>
              <a:t>konsoluna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i="1" u="sng" dirty="0">
                <a:hlinkClick r:id="rId2"/>
              </a:rPr>
              <a:t>localhost:8080</a:t>
            </a:r>
            <a:r>
              <a:rPr lang="en-US" dirty="0"/>
              <a:t> </a:t>
            </a:r>
            <a:r>
              <a:rPr lang="en-US" dirty="0" err="1"/>
              <a:t>adresine</a:t>
            </a:r>
            <a:r>
              <a:rPr lang="en-US" dirty="0"/>
              <a:t> </a:t>
            </a:r>
            <a:r>
              <a:rPr lang="en-US" dirty="0" err="1"/>
              <a:t>gidilir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şekildeki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initial admin user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girilir</a:t>
            </a:r>
            <a:r>
              <a:rPr lang="en-US" dirty="0"/>
              <a:t>.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en-US" dirty="0" err="1"/>
              <a:t>servisimiz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en-US" dirty="0" err="1"/>
              <a:t>kalktı</a:t>
            </a:r>
            <a:r>
              <a:rPr lang="en-US" dirty="0"/>
              <a:t>,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client, realm </a:t>
            </a:r>
            <a:r>
              <a:rPr lang="en-US" dirty="0" err="1"/>
              <a:t>ve</a:t>
            </a:r>
            <a:r>
              <a:rPr lang="en-US" dirty="0"/>
              <a:t> user </a:t>
            </a:r>
            <a:r>
              <a:rPr lang="en-US" dirty="0" err="1"/>
              <a:t>tanımlanabilir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52" y="1277957"/>
            <a:ext cx="1159569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23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Şimdi</a:t>
            </a:r>
            <a:r>
              <a:rPr lang="en-US" dirty="0"/>
              <a:t> de </a:t>
            </a:r>
            <a:r>
              <a:rPr lang="en-US" b="1" dirty="0" err="1"/>
              <a:t>docker-compose.yml</a:t>
            </a:r>
            <a:r>
              <a:rPr lang="en-US" dirty="0"/>
              <a:t> </a:t>
            </a:r>
            <a:r>
              <a:rPr lang="en-US" dirty="0" err="1"/>
              <a:t>dosyası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, </a:t>
            </a:r>
            <a:r>
              <a:rPr lang="en-US" dirty="0" err="1"/>
              <a:t>postgresql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tabanı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keycloak-23.0.6 </a:t>
            </a:r>
            <a:r>
              <a:rPr lang="en-US" dirty="0" err="1"/>
              <a:t>versiyonunun</a:t>
            </a:r>
            <a:r>
              <a:rPr lang="en-US" dirty="0"/>
              <a:t> </a:t>
            </a:r>
            <a:r>
              <a:rPr lang="en-US" dirty="0" err="1"/>
              <a:t>kurulumunun</a:t>
            </a:r>
            <a:r>
              <a:rPr lang="en-US" dirty="0"/>
              <a:t> </a:t>
            </a:r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gerçekleştirileceğine</a:t>
            </a:r>
            <a:r>
              <a:rPr lang="en-US" dirty="0"/>
              <a:t> </a:t>
            </a:r>
            <a:r>
              <a:rPr lang="en-US" dirty="0" err="1"/>
              <a:t>bakalım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Aşağıda</a:t>
            </a:r>
            <a:r>
              <a:rPr lang="en-US" dirty="0"/>
              <a:t> </a:t>
            </a:r>
            <a:r>
              <a:rPr lang="en-US" dirty="0" err="1"/>
              <a:t>gösterilen</a:t>
            </a:r>
            <a:r>
              <a:rPr lang="en-US" dirty="0"/>
              <a:t> </a:t>
            </a:r>
            <a:r>
              <a:rPr lang="en-US" i="1" u="sng" dirty="0" err="1">
                <a:hlinkClick r:id="rId2"/>
              </a:rPr>
              <a:t>docker-compose.yml</a:t>
            </a:r>
            <a:r>
              <a:rPr lang="en-US" dirty="0"/>
              <a:t> </a:t>
            </a:r>
            <a:r>
              <a:rPr lang="en-US" dirty="0" err="1"/>
              <a:t>dosyasının</a:t>
            </a:r>
            <a:r>
              <a:rPr lang="en-US" dirty="0"/>
              <a:t> </a:t>
            </a:r>
            <a:r>
              <a:rPr lang="en-US" dirty="0" err="1"/>
              <a:t>çalıştırılması</a:t>
            </a:r>
            <a:r>
              <a:rPr lang="en-US" dirty="0"/>
              <a:t> </a:t>
            </a:r>
            <a:r>
              <a:rPr lang="en-US" dirty="0" err="1"/>
              <a:t>yeterlidir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6" y="1894900"/>
            <a:ext cx="10961782" cy="480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9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docker-compose.yml</a:t>
            </a:r>
            <a:r>
              <a:rPr lang="en-US" dirty="0"/>
              <a:t> </a:t>
            </a:r>
            <a:r>
              <a:rPr lang="en-US" dirty="0" err="1"/>
              <a:t>dosyasının</a:t>
            </a:r>
            <a:r>
              <a:rPr lang="en-US" dirty="0"/>
              <a:t> </a:t>
            </a:r>
            <a:r>
              <a:rPr lang="en-US" dirty="0" err="1"/>
              <a:t>bunduğu</a:t>
            </a:r>
            <a:r>
              <a:rPr lang="en-US" dirty="0"/>
              <a:t> </a:t>
            </a:r>
            <a:r>
              <a:rPr lang="en-US" dirty="0" err="1"/>
              <a:t>dizine</a:t>
            </a:r>
            <a:r>
              <a:rPr lang="en-US" dirty="0"/>
              <a:t> </a:t>
            </a:r>
            <a:r>
              <a:rPr lang="en-US" dirty="0" err="1"/>
              <a:t>gelerek</a:t>
            </a:r>
            <a:r>
              <a:rPr lang="en-US" dirty="0"/>
              <a:t> </a:t>
            </a:r>
            <a:r>
              <a:rPr lang="en-US" i="1" dirty="0" err="1"/>
              <a:t>docker</a:t>
            </a:r>
            <a:r>
              <a:rPr lang="en-US" i="1" dirty="0"/>
              <a:t>-compose up</a:t>
            </a:r>
            <a:r>
              <a:rPr lang="en-US" dirty="0"/>
              <a:t> </a:t>
            </a:r>
            <a:r>
              <a:rPr lang="en-US" dirty="0" err="1"/>
              <a:t>komutu</a:t>
            </a:r>
            <a:r>
              <a:rPr lang="en-US" dirty="0"/>
              <a:t> </a:t>
            </a:r>
            <a:r>
              <a:rPr lang="en-US" dirty="0" err="1"/>
              <a:t>çalıştırılır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78" y="1370339"/>
            <a:ext cx="11049568" cy="520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54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Keycloak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postgresql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tr-TR" dirty="0" smtClean="0"/>
              <a:t>çalıştıktan </a:t>
            </a:r>
            <a:r>
              <a:rPr lang="en-US" dirty="0" err="1" smtClean="0"/>
              <a:t>sonra</a:t>
            </a:r>
            <a:r>
              <a:rPr lang="en-US" dirty="0" smtClean="0"/>
              <a:t> </a:t>
            </a:r>
            <a:r>
              <a:rPr lang="en-US" dirty="0" err="1"/>
              <a:t>docker</a:t>
            </a:r>
            <a:r>
              <a:rPr lang="en-US" dirty="0"/>
              <a:t> desktop’ ta </a:t>
            </a:r>
            <a:r>
              <a:rPr lang="en-US" dirty="0" err="1"/>
              <a:t>şekildeki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gözükecektir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34" y="1513606"/>
            <a:ext cx="11628854" cy="476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39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Admin </a:t>
            </a:r>
            <a:r>
              <a:rPr lang="en-US" dirty="0" err="1"/>
              <a:t>konsoluna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 </a:t>
            </a:r>
            <a:r>
              <a:rPr lang="en-US" i="1" u="sng" dirty="0">
                <a:hlinkClick r:id="rId2"/>
              </a:rPr>
              <a:t>localhost:8080</a:t>
            </a:r>
            <a:r>
              <a:rPr lang="en-US" dirty="0"/>
              <a:t> </a:t>
            </a:r>
            <a:r>
              <a:rPr lang="en-US" dirty="0" err="1"/>
              <a:t>adresine</a:t>
            </a:r>
            <a:r>
              <a:rPr lang="en-US" dirty="0"/>
              <a:t> </a:t>
            </a:r>
            <a:r>
              <a:rPr lang="en-US" dirty="0" err="1"/>
              <a:t>gidilir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şekildeki</a:t>
            </a:r>
            <a:r>
              <a:rPr lang="en-US" dirty="0"/>
              <a:t> Administration Console’ a </a:t>
            </a:r>
            <a:r>
              <a:rPr lang="en-US" dirty="0" err="1"/>
              <a:t>gidilerek</a:t>
            </a:r>
            <a:r>
              <a:rPr lang="en-US" dirty="0"/>
              <a:t> admin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bilgileri</a:t>
            </a:r>
            <a:r>
              <a:rPr lang="en-US" dirty="0"/>
              <a:t> </a:t>
            </a:r>
            <a:r>
              <a:rPr lang="en-US" dirty="0" err="1"/>
              <a:t>girilir</a:t>
            </a:r>
            <a:r>
              <a:rPr lang="en-US" dirty="0"/>
              <a:t>. </a:t>
            </a:r>
            <a:r>
              <a:rPr lang="en-US" dirty="0" err="1"/>
              <a:t>Artık</a:t>
            </a:r>
            <a:r>
              <a:rPr lang="en-US" dirty="0"/>
              <a:t> </a:t>
            </a:r>
            <a:r>
              <a:rPr lang="en-US" b="1" dirty="0" err="1"/>
              <a:t>Keycloak</a:t>
            </a:r>
            <a:r>
              <a:rPr lang="en-US" dirty="0"/>
              <a:t> </a:t>
            </a:r>
            <a:r>
              <a:rPr lang="en-US" dirty="0" err="1"/>
              <a:t>servisimiz</a:t>
            </a:r>
            <a:r>
              <a:rPr lang="en-US" dirty="0"/>
              <a:t> </a:t>
            </a:r>
            <a:r>
              <a:rPr lang="en-US" dirty="0" err="1"/>
              <a:t>başarılı</a:t>
            </a:r>
            <a:r>
              <a:rPr lang="en-US" dirty="0"/>
              <a:t> bir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ayağa</a:t>
            </a:r>
            <a:r>
              <a:rPr lang="en-US" dirty="0"/>
              <a:t> </a:t>
            </a:r>
            <a:r>
              <a:rPr lang="en-US" dirty="0" err="1"/>
              <a:t>kalktı</a:t>
            </a:r>
            <a:r>
              <a:rPr lang="en-US" dirty="0"/>
              <a:t>,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client, realm </a:t>
            </a:r>
            <a:r>
              <a:rPr lang="en-US" dirty="0" err="1"/>
              <a:t>ve</a:t>
            </a:r>
            <a:r>
              <a:rPr lang="en-US" dirty="0"/>
              <a:t> user </a:t>
            </a:r>
            <a:r>
              <a:rPr lang="en-US" dirty="0" err="1"/>
              <a:t>tanımlayabiliriz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70" y="2269474"/>
            <a:ext cx="10643147" cy="427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93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Realm </a:t>
            </a:r>
            <a:r>
              <a:rPr lang="en-US" b="1" dirty="0" err="1"/>
              <a:t>ve</a:t>
            </a:r>
            <a:r>
              <a:rPr lang="en-US" b="1" dirty="0"/>
              <a:t> Client </a:t>
            </a:r>
            <a:r>
              <a:rPr lang="en-US" b="1" dirty="0" err="1"/>
              <a:t>Oluşturulması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yaptıktan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ekran</a:t>
            </a:r>
            <a:r>
              <a:rPr lang="en-US" dirty="0"/>
              <a:t> </a:t>
            </a:r>
            <a:r>
              <a:rPr lang="en-US" dirty="0" err="1"/>
              <a:t>bizi</a:t>
            </a:r>
            <a:r>
              <a:rPr lang="en-US" dirty="0"/>
              <a:t> </a:t>
            </a:r>
            <a:r>
              <a:rPr lang="en-US" dirty="0" err="1"/>
              <a:t>karşılayacaktır</a:t>
            </a:r>
            <a:r>
              <a:rPr lang="en-US" dirty="0"/>
              <a:t>.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duracağımız</a:t>
            </a:r>
            <a:r>
              <a:rPr lang="en-US" dirty="0"/>
              <a:t> </a:t>
            </a:r>
            <a:r>
              <a:rPr lang="en-US" dirty="0" err="1"/>
              <a:t>kavramlar</a:t>
            </a:r>
            <a:r>
              <a:rPr lang="en-US" dirty="0"/>
              <a:t> </a:t>
            </a:r>
            <a:r>
              <a:rPr lang="en-US" b="1" dirty="0"/>
              <a:t>realm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/>
              <a:t>client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69" y="1714236"/>
            <a:ext cx="11405186" cy="498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35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Realm</a:t>
            </a:r>
            <a:r>
              <a:rPr lang="en-US" dirty="0"/>
              <a:t>, </a:t>
            </a:r>
            <a:r>
              <a:rPr lang="en-US" b="1" dirty="0" err="1"/>
              <a:t>Keycloak</a:t>
            </a:r>
            <a:r>
              <a:rPr lang="en-US" dirty="0"/>
              <a:t>’ ta </a:t>
            </a:r>
            <a:r>
              <a:rPr lang="en-US" dirty="0" err="1"/>
              <a:t>kullanıcıların</a:t>
            </a:r>
            <a:r>
              <a:rPr lang="en-US" dirty="0"/>
              <a:t>,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bilgilerinin</a:t>
            </a:r>
            <a:r>
              <a:rPr lang="en-US" dirty="0"/>
              <a:t>, </a:t>
            </a:r>
            <a:r>
              <a:rPr lang="en-US" dirty="0" err="1"/>
              <a:t>rollerin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grupların</a:t>
            </a:r>
            <a:r>
              <a:rPr lang="en-US" dirty="0"/>
              <a:t> </a:t>
            </a:r>
            <a:r>
              <a:rPr lang="en-US" dirty="0" err="1"/>
              <a:t>yönetildiği</a:t>
            </a:r>
            <a:r>
              <a:rPr lang="en-US" dirty="0"/>
              <a:t> bir </a:t>
            </a:r>
            <a:r>
              <a:rPr lang="en-US" dirty="0" err="1"/>
              <a:t>alandır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Her </a:t>
            </a:r>
            <a:r>
              <a:rPr lang="en-US" dirty="0"/>
              <a:t>realm,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tabanına</a:t>
            </a:r>
            <a:r>
              <a:rPr lang="en-US" dirty="0"/>
              <a:t>, </a:t>
            </a:r>
            <a:r>
              <a:rPr lang="en-US" dirty="0" err="1"/>
              <a:t>yetkilendirme</a:t>
            </a:r>
            <a:r>
              <a:rPr lang="en-US" dirty="0"/>
              <a:t> </a:t>
            </a:r>
            <a:r>
              <a:rPr lang="en-US" dirty="0" err="1"/>
              <a:t>ayarlarına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politikalarına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Client</a:t>
            </a:r>
            <a:r>
              <a:rPr lang="en-US" dirty="0"/>
              <a:t> 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b="1" dirty="0" err="1"/>
              <a:t>Keycloak</a:t>
            </a:r>
            <a:r>
              <a:rPr lang="en-US" dirty="0"/>
              <a:t> </a:t>
            </a:r>
            <a:r>
              <a:rPr lang="en-US" dirty="0" err="1"/>
              <a:t>sunucusuyla</a:t>
            </a:r>
            <a:r>
              <a:rPr lang="en-US" dirty="0"/>
              <a:t> </a:t>
            </a:r>
            <a:r>
              <a:rPr lang="en-US" dirty="0" err="1"/>
              <a:t>iletişim</a:t>
            </a:r>
            <a:r>
              <a:rPr lang="en-US" dirty="0"/>
              <a:t> </a:t>
            </a:r>
            <a:r>
              <a:rPr lang="en-US" dirty="0" err="1"/>
              <a:t>kurarak</a:t>
            </a:r>
            <a:r>
              <a:rPr lang="en-US" dirty="0"/>
              <a:t> </a:t>
            </a:r>
            <a:r>
              <a:rPr lang="en-US" dirty="0" err="1"/>
              <a:t>kullanıcıların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 </a:t>
            </a:r>
            <a:r>
              <a:rPr lang="en-US" dirty="0" err="1"/>
              <a:t>işlemlerini</a:t>
            </a:r>
            <a:r>
              <a:rPr lang="en-US" dirty="0"/>
              <a:t> </a:t>
            </a:r>
            <a:r>
              <a:rPr lang="en-US" dirty="0" err="1"/>
              <a:t>gerçekleştiren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kullanıcılara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izinleri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</a:t>
            </a:r>
            <a:r>
              <a:rPr lang="en-US" dirty="0" err="1"/>
              <a:t>uygulamalardır</a:t>
            </a:r>
            <a:r>
              <a:rPr lang="en-US" dirty="0"/>
              <a:t>. 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Web </a:t>
            </a:r>
            <a:r>
              <a:rPr lang="en-US" dirty="0" err="1"/>
              <a:t>uygulamaları</a:t>
            </a:r>
            <a:r>
              <a:rPr lang="en-US" dirty="0"/>
              <a:t>, </a:t>
            </a:r>
            <a:r>
              <a:rPr lang="en-US" dirty="0" err="1"/>
              <a:t>mobil</a:t>
            </a:r>
            <a:r>
              <a:rPr lang="en-US" dirty="0"/>
              <a:t> </a:t>
            </a:r>
            <a:r>
              <a:rPr lang="en-US" dirty="0" err="1"/>
              <a:t>uygulamalar</a:t>
            </a:r>
            <a:r>
              <a:rPr lang="en-US" dirty="0"/>
              <a:t>, API’ </a:t>
            </a:r>
            <a:r>
              <a:rPr lang="en-US" dirty="0" err="1"/>
              <a:t>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komut</a:t>
            </a:r>
            <a:r>
              <a:rPr lang="en-US" dirty="0"/>
              <a:t> </a:t>
            </a:r>
            <a:r>
              <a:rPr lang="en-US" dirty="0" err="1"/>
              <a:t>satırı</a:t>
            </a:r>
            <a:r>
              <a:rPr lang="en-US" dirty="0"/>
              <a:t> </a:t>
            </a:r>
            <a:r>
              <a:rPr lang="en-US" dirty="0" err="1"/>
              <a:t>araçları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türlerde</a:t>
            </a:r>
            <a:r>
              <a:rPr lang="en-US" dirty="0"/>
              <a:t> </a:t>
            </a:r>
            <a:r>
              <a:rPr lang="en-US" dirty="0" err="1"/>
              <a:t>olabilirler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Keycloak</a:t>
            </a:r>
            <a:r>
              <a:rPr lang="en-US" dirty="0"/>
              <a:t>’ ta default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b="1" dirty="0"/>
              <a:t>master</a:t>
            </a:r>
            <a:r>
              <a:rPr lang="en-US" dirty="0"/>
              <a:t> </a:t>
            </a:r>
            <a:r>
              <a:rPr lang="en-US" dirty="0" err="1"/>
              <a:t>adında</a:t>
            </a:r>
            <a:r>
              <a:rPr lang="en-US" dirty="0"/>
              <a:t> bir </a:t>
            </a:r>
            <a:r>
              <a:rPr lang="en-US" b="1" dirty="0"/>
              <a:t>realm</a:t>
            </a:r>
            <a:r>
              <a:rPr lang="en-US" dirty="0"/>
              <a:t> </a:t>
            </a:r>
            <a:r>
              <a:rPr lang="en-US" dirty="0" err="1"/>
              <a:t>gelir</a:t>
            </a:r>
            <a:r>
              <a:rPr lang="en-US" dirty="0"/>
              <a:t>. </a:t>
            </a:r>
            <a:r>
              <a:rPr lang="en-US" b="1" dirty="0"/>
              <a:t>Master</a:t>
            </a:r>
            <a:r>
              <a:rPr lang="en-US" dirty="0"/>
              <a:t> </a:t>
            </a:r>
            <a:r>
              <a:rPr lang="en-US" b="1" dirty="0"/>
              <a:t>realm</a:t>
            </a:r>
            <a:r>
              <a:rPr lang="en-US" dirty="0"/>
              <a:t>,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realm’leri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yönetmek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ana</a:t>
            </a:r>
            <a:r>
              <a:rPr lang="en-US" dirty="0"/>
              <a:t> </a:t>
            </a:r>
            <a:r>
              <a:rPr lang="en-US" dirty="0" err="1"/>
              <a:t>realm’dir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izolasyon</a:t>
            </a:r>
            <a:r>
              <a:rPr lang="en-US" dirty="0"/>
              <a:t> </a:t>
            </a:r>
            <a:r>
              <a:rPr lang="en-US" dirty="0" err="1"/>
              <a:t>sağlamak</a:t>
            </a:r>
            <a:r>
              <a:rPr lang="en-US" dirty="0"/>
              <a:t> </a:t>
            </a:r>
            <a:r>
              <a:rPr lang="en-US" dirty="0" err="1"/>
              <a:t>adına</a:t>
            </a:r>
            <a:r>
              <a:rPr lang="en-US" dirty="0"/>
              <a:t> her bir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ayrı</a:t>
            </a:r>
            <a:r>
              <a:rPr lang="en-US" dirty="0"/>
              <a:t> bir </a:t>
            </a:r>
            <a:r>
              <a:rPr lang="en-US" b="1" dirty="0"/>
              <a:t>realm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gerekmektedir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304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İlk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bir </a:t>
            </a:r>
            <a:r>
              <a:rPr lang="en-US" b="1" dirty="0"/>
              <a:t>realm</a:t>
            </a:r>
            <a:r>
              <a:rPr lang="en-US" dirty="0"/>
              <a:t> </a:t>
            </a:r>
            <a:r>
              <a:rPr lang="en-US" dirty="0" err="1"/>
              <a:t>oluşturuyoruz</a:t>
            </a:r>
            <a:r>
              <a:rPr lang="en-US" dirty="0"/>
              <a:t>. Sol </a:t>
            </a:r>
            <a:r>
              <a:rPr lang="en-US" dirty="0" err="1"/>
              <a:t>tarafta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master’ a </a:t>
            </a:r>
            <a:r>
              <a:rPr lang="en-US" dirty="0" err="1"/>
              <a:t>tıklayarak</a:t>
            </a:r>
            <a:r>
              <a:rPr lang="en-US" dirty="0"/>
              <a:t> Create Realm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basıyoruz</a:t>
            </a:r>
            <a:r>
              <a:rPr lang="en-US" dirty="0"/>
              <a:t>.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ekranda</a:t>
            </a:r>
            <a:r>
              <a:rPr lang="en-US" dirty="0"/>
              <a:t> realm </a:t>
            </a:r>
            <a:r>
              <a:rPr lang="en-US" dirty="0" err="1"/>
              <a:t>ismi</a:t>
            </a:r>
            <a:r>
              <a:rPr lang="en-US" dirty="0"/>
              <a:t> </a:t>
            </a:r>
            <a:r>
              <a:rPr lang="en-US" dirty="0" err="1"/>
              <a:t>girip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create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basılarak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gerçekleştiriyoruz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1421176"/>
            <a:ext cx="11687226" cy="527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09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Client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Clients </a:t>
            </a:r>
            <a:r>
              <a:rPr lang="en-US" dirty="0" err="1"/>
              <a:t>sekmesi</a:t>
            </a:r>
            <a:r>
              <a:rPr lang="en-US" dirty="0"/>
              <a:t> &gt;&gt; Create client</a:t>
            </a:r>
            <a:r>
              <a:rPr lang="en-US" dirty="0" smtClean="0"/>
              <a:t>: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en-US" dirty="0"/>
              <a:t>Client ID </a:t>
            </a:r>
            <a:r>
              <a:rPr lang="en-US" dirty="0" err="1"/>
              <a:t>tanımlandıktan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Next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basılır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705078"/>
            <a:ext cx="11735403" cy="24677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4" y="3734716"/>
            <a:ext cx="10395305" cy="312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51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Konfigürasyon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. Next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basılarak</a:t>
            </a:r>
            <a:r>
              <a:rPr lang="en-US" dirty="0"/>
              <a:t> </a:t>
            </a:r>
            <a:r>
              <a:rPr lang="en-US" dirty="0" err="1"/>
              <a:t>devam</a:t>
            </a:r>
            <a:r>
              <a:rPr lang="en-US" dirty="0"/>
              <a:t> </a:t>
            </a:r>
            <a:r>
              <a:rPr lang="en-US" dirty="0" err="1"/>
              <a:t>edilir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23" y="782198"/>
            <a:ext cx="10554159" cy="55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61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Uygulamada</a:t>
            </a:r>
            <a:r>
              <a:rPr lang="en-US" dirty="0"/>
              <a:t> </a:t>
            </a:r>
            <a:r>
              <a:rPr lang="en-US" dirty="0" err="1"/>
              <a:t>kullanıcının</a:t>
            </a:r>
            <a:r>
              <a:rPr lang="en-US" dirty="0"/>
              <a:t>,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kimliği</a:t>
            </a:r>
            <a:r>
              <a:rPr lang="en-US" dirty="0"/>
              <a:t> </a:t>
            </a:r>
            <a:r>
              <a:rPr lang="en-US" dirty="0" err="1"/>
              <a:t>doğrulanmadan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, </a:t>
            </a:r>
            <a:r>
              <a:rPr lang="en-US" dirty="0" err="1"/>
              <a:t>doğrulandıktan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uygulamadan</a:t>
            </a:r>
            <a:r>
              <a:rPr lang="en-US" dirty="0"/>
              <a:t> </a:t>
            </a: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yapıldıktan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yönlendirilecek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tanımlıyoruz</a:t>
            </a:r>
            <a:r>
              <a:rPr lang="en-US" dirty="0"/>
              <a:t>. </a:t>
            </a:r>
            <a:r>
              <a:rPr lang="en-US" b="1" dirty="0"/>
              <a:t>Save</a:t>
            </a:r>
            <a:r>
              <a:rPr lang="en-US" dirty="0"/>
              <a:t>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basılarak</a:t>
            </a:r>
            <a:r>
              <a:rPr lang="en-US" dirty="0"/>
              <a:t> client </a:t>
            </a:r>
            <a:r>
              <a:rPr lang="en-US" dirty="0" err="1"/>
              <a:t>oluşturma</a:t>
            </a:r>
            <a:r>
              <a:rPr lang="en-US" dirty="0"/>
              <a:t> </a:t>
            </a:r>
            <a:r>
              <a:rPr lang="en-US" dirty="0" err="1"/>
              <a:t>işlemini</a:t>
            </a:r>
            <a:r>
              <a:rPr lang="en-US" dirty="0"/>
              <a:t> </a:t>
            </a:r>
            <a:r>
              <a:rPr lang="en-US" dirty="0" err="1"/>
              <a:t>tamamlıyoruz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1520328"/>
            <a:ext cx="11946188" cy="517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02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/>
              <a:t>Rol</a:t>
            </a:r>
            <a:r>
              <a:rPr lang="en-US" sz="2400" b="1" dirty="0"/>
              <a:t> </a:t>
            </a:r>
            <a:r>
              <a:rPr lang="en-US" sz="2400" b="1" dirty="0" err="1"/>
              <a:t>Tanımlanması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Şimdi</a:t>
            </a:r>
            <a:r>
              <a:rPr lang="en-US" sz="2400" dirty="0"/>
              <a:t> de </a:t>
            </a:r>
            <a:r>
              <a:rPr lang="en-US" sz="2400" b="1" dirty="0"/>
              <a:t>realm</a:t>
            </a:r>
            <a:r>
              <a:rPr lang="en-US" sz="2400" dirty="0"/>
              <a:t> </a:t>
            </a:r>
            <a:r>
              <a:rPr lang="en-US" sz="2400" b="1" dirty="0"/>
              <a:t>role</a:t>
            </a:r>
            <a:r>
              <a:rPr lang="en-US" sz="2400" dirty="0"/>
              <a:t>’ </a:t>
            </a:r>
            <a:r>
              <a:rPr lang="en-US" sz="2400" dirty="0" err="1"/>
              <a:t>leri</a:t>
            </a:r>
            <a:r>
              <a:rPr lang="en-US" sz="2400" dirty="0"/>
              <a:t> </a:t>
            </a:r>
            <a:r>
              <a:rPr lang="en-US" sz="2400" dirty="0" err="1"/>
              <a:t>tanımlıyoruz</a:t>
            </a:r>
            <a:r>
              <a:rPr lang="en-US" sz="2400" dirty="0"/>
              <a:t>. </a:t>
            </a:r>
            <a:r>
              <a:rPr lang="en-US" sz="2400" dirty="0" err="1"/>
              <a:t>Bunun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Realm roles &gt;&gt; create role </a:t>
            </a:r>
            <a:r>
              <a:rPr lang="en-US" sz="2400" dirty="0" err="1"/>
              <a:t>adımlarını</a:t>
            </a:r>
            <a:r>
              <a:rPr lang="en-US" sz="2400" dirty="0"/>
              <a:t> </a:t>
            </a:r>
            <a:r>
              <a:rPr lang="en-US" sz="2400" dirty="0" err="1"/>
              <a:t>uyguluyoruz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400" dirty="0" smtClean="0"/>
          </a:p>
          <a:p>
            <a:pPr marL="0" indent="0">
              <a:buNone/>
            </a:pPr>
            <a:r>
              <a:rPr lang="en-US" sz="2400" dirty="0"/>
              <a:t>admin </a:t>
            </a:r>
            <a:r>
              <a:rPr lang="en-US" sz="2400" dirty="0" err="1"/>
              <a:t>ve</a:t>
            </a:r>
            <a:r>
              <a:rPr lang="en-US" sz="2400" dirty="0"/>
              <a:t> user </a:t>
            </a:r>
            <a:r>
              <a:rPr lang="en-US" sz="2400" dirty="0" err="1"/>
              <a:t>adında</a:t>
            </a:r>
            <a:r>
              <a:rPr lang="en-US" sz="2400" dirty="0"/>
              <a:t> </a:t>
            </a:r>
            <a:r>
              <a:rPr lang="en-US" sz="2400" dirty="0" err="1"/>
              <a:t>iki</a:t>
            </a:r>
            <a:r>
              <a:rPr lang="en-US" sz="2400" dirty="0"/>
              <a:t> </a:t>
            </a:r>
            <a:r>
              <a:rPr lang="en-US" sz="2400" dirty="0" err="1"/>
              <a:t>rol</a:t>
            </a:r>
            <a:r>
              <a:rPr lang="en-US" sz="2400" dirty="0"/>
              <a:t> </a:t>
            </a:r>
            <a:r>
              <a:rPr lang="en-US" sz="2400" dirty="0" err="1"/>
              <a:t>tanımlıyoruz</a:t>
            </a:r>
            <a:r>
              <a:rPr lang="en-US" sz="24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1432193"/>
            <a:ext cx="11964015" cy="22694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15" y="4082752"/>
            <a:ext cx="11544893" cy="26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26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Client’ </a:t>
            </a:r>
            <a:r>
              <a:rPr lang="en-US" dirty="0" err="1"/>
              <a:t>lar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tanımlama</a:t>
            </a:r>
            <a:r>
              <a:rPr lang="en-US" dirty="0"/>
              <a:t> </a:t>
            </a:r>
            <a:r>
              <a:rPr lang="en-US" dirty="0" err="1"/>
              <a:t>işlemi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oluşturduğumuz</a:t>
            </a:r>
            <a:r>
              <a:rPr lang="en-US" dirty="0"/>
              <a:t> client’ a </a:t>
            </a:r>
            <a:r>
              <a:rPr lang="en-US" dirty="0" err="1"/>
              <a:t>giderek</a:t>
            </a:r>
            <a:r>
              <a:rPr lang="en-US" dirty="0"/>
              <a:t>, Roles </a:t>
            </a:r>
            <a:r>
              <a:rPr lang="en-US" dirty="0" err="1"/>
              <a:t>sekmesini</a:t>
            </a:r>
            <a:r>
              <a:rPr lang="en-US" dirty="0"/>
              <a:t> </a:t>
            </a:r>
            <a:r>
              <a:rPr lang="en-US" dirty="0" err="1"/>
              <a:t>seçiyor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Create role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basıyoruz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03" y="971423"/>
            <a:ext cx="11557594" cy="552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8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Sırasıyla</a:t>
            </a:r>
            <a:r>
              <a:rPr lang="en-US" dirty="0"/>
              <a:t> </a:t>
            </a:r>
            <a:r>
              <a:rPr lang="en-US" dirty="0" err="1"/>
              <a:t>client_admin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client_user</a:t>
            </a:r>
            <a:r>
              <a:rPr lang="en-US" dirty="0"/>
              <a:t> </a:t>
            </a:r>
            <a:r>
              <a:rPr lang="en-US" dirty="0" err="1"/>
              <a:t>rollerini</a:t>
            </a:r>
            <a:r>
              <a:rPr lang="en-US" dirty="0"/>
              <a:t> </a:t>
            </a:r>
            <a:r>
              <a:rPr lang="en-US" dirty="0" err="1"/>
              <a:t>tanımlıyoruz</a:t>
            </a:r>
            <a:r>
              <a:rPr lang="en-US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52" y="778411"/>
            <a:ext cx="10490739" cy="32317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3679634"/>
            <a:ext cx="11201976" cy="301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20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Her </a:t>
            </a:r>
            <a:r>
              <a:rPr lang="en-US" b="1" i="1" dirty="0"/>
              <a:t>realm</a:t>
            </a:r>
            <a:r>
              <a:rPr lang="en-US" i="1" dirty="0"/>
              <a:t>’ de </a:t>
            </a:r>
            <a:r>
              <a:rPr lang="en-US" i="1" dirty="0" err="1"/>
              <a:t>ve</a:t>
            </a:r>
            <a:r>
              <a:rPr lang="en-US" i="1" dirty="0"/>
              <a:t> </a:t>
            </a:r>
            <a:r>
              <a:rPr lang="en-US" b="1" i="1" dirty="0"/>
              <a:t>client</a:t>
            </a:r>
            <a:r>
              <a:rPr lang="en-US" i="1" dirty="0"/>
              <a:t>’ ta </a:t>
            </a:r>
            <a:r>
              <a:rPr lang="en-US" b="1" i="1" dirty="0"/>
              <a:t>roller</a:t>
            </a:r>
            <a:r>
              <a:rPr lang="en-US" i="1" dirty="0"/>
              <a:t> </a:t>
            </a:r>
            <a:r>
              <a:rPr lang="en-US" i="1" dirty="0" err="1"/>
              <a:t>tanımlanabiliyor</a:t>
            </a:r>
            <a:r>
              <a:rPr lang="en-US" i="1" dirty="0"/>
              <a:t> </a:t>
            </a:r>
            <a:r>
              <a:rPr lang="en-US" i="1" dirty="0" err="1"/>
              <a:t>ancak</a:t>
            </a:r>
            <a:r>
              <a:rPr lang="en-US" i="1" dirty="0"/>
              <a:t> </a:t>
            </a:r>
            <a:r>
              <a:rPr lang="en-US" i="1" dirty="0" err="1"/>
              <a:t>burada</a:t>
            </a:r>
            <a:r>
              <a:rPr lang="en-US" i="1" dirty="0"/>
              <a:t> </a:t>
            </a:r>
            <a:r>
              <a:rPr lang="en-US" i="1" dirty="0" err="1"/>
              <a:t>bilinmesi</a:t>
            </a:r>
            <a:r>
              <a:rPr lang="en-US" i="1" dirty="0"/>
              <a:t> </a:t>
            </a:r>
            <a:r>
              <a:rPr lang="en-US" i="1" dirty="0" err="1"/>
              <a:t>gereken</a:t>
            </a:r>
            <a:r>
              <a:rPr lang="en-US" i="1" dirty="0"/>
              <a:t> </a:t>
            </a:r>
            <a:r>
              <a:rPr lang="en-US" i="1" dirty="0" err="1"/>
              <a:t>önemli</a:t>
            </a:r>
            <a:r>
              <a:rPr lang="en-US" i="1" dirty="0"/>
              <a:t> bir </a:t>
            </a:r>
            <a:r>
              <a:rPr lang="en-US" i="1" dirty="0" err="1"/>
              <a:t>nokta</a:t>
            </a:r>
            <a:r>
              <a:rPr lang="en-US" i="1" dirty="0"/>
              <a:t> var. Bir client </a:t>
            </a:r>
            <a:r>
              <a:rPr lang="en-US" i="1" dirty="0" err="1"/>
              <a:t>altında</a:t>
            </a:r>
            <a:r>
              <a:rPr lang="en-US" i="1" dirty="0"/>
              <a:t> </a:t>
            </a:r>
            <a:r>
              <a:rPr lang="en-US" i="1" dirty="0" err="1"/>
              <a:t>tanımlanan</a:t>
            </a:r>
            <a:r>
              <a:rPr lang="en-US" i="1" dirty="0"/>
              <a:t> </a:t>
            </a:r>
            <a:r>
              <a:rPr lang="en-US" i="1" dirty="0" err="1"/>
              <a:t>rol</a:t>
            </a:r>
            <a:r>
              <a:rPr lang="en-US" i="1" dirty="0"/>
              <a:t> </a:t>
            </a:r>
            <a:r>
              <a:rPr lang="en-US" i="1" dirty="0" err="1"/>
              <a:t>sadece</a:t>
            </a:r>
            <a:r>
              <a:rPr lang="en-US" i="1" dirty="0"/>
              <a:t> o client </a:t>
            </a:r>
            <a:r>
              <a:rPr lang="en-US" i="1" dirty="0" err="1"/>
              <a:t>içinde</a:t>
            </a:r>
            <a:r>
              <a:rPr lang="en-US" i="1" dirty="0"/>
              <a:t> </a:t>
            </a:r>
            <a:r>
              <a:rPr lang="en-US" i="1" dirty="0" err="1"/>
              <a:t>geçerliyken</a:t>
            </a:r>
            <a:r>
              <a:rPr lang="en-US" i="1" dirty="0"/>
              <a:t>, bir realm </a:t>
            </a:r>
            <a:r>
              <a:rPr lang="en-US" i="1" dirty="0" err="1"/>
              <a:t>altında</a:t>
            </a:r>
            <a:r>
              <a:rPr lang="en-US" i="1" dirty="0"/>
              <a:t> </a:t>
            </a:r>
            <a:r>
              <a:rPr lang="en-US" i="1" dirty="0" err="1"/>
              <a:t>tanımlanan</a:t>
            </a:r>
            <a:r>
              <a:rPr lang="en-US" i="1" dirty="0"/>
              <a:t> </a:t>
            </a:r>
            <a:r>
              <a:rPr lang="en-US" i="1" dirty="0" err="1"/>
              <a:t>rol</a:t>
            </a:r>
            <a:r>
              <a:rPr lang="en-US" i="1" dirty="0"/>
              <a:t>, o realm </a:t>
            </a:r>
            <a:r>
              <a:rPr lang="en-US" i="1" dirty="0" err="1"/>
              <a:t>altındaki</a:t>
            </a:r>
            <a:r>
              <a:rPr lang="en-US" i="1" dirty="0"/>
              <a:t> </a:t>
            </a:r>
            <a:r>
              <a:rPr lang="en-US" i="1" dirty="0" err="1"/>
              <a:t>tüm</a:t>
            </a:r>
            <a:r>
              <a:rPr lang="en-US" i="1" dirty="0"/>
              <a:t> client’ </a:t>
            </a:r>
            <a:r>
              <a:rPr lang="en-US" i="1" dirty="0" err="1"/>
              <a:t>larda</a:t>
            </a:r>
            <a:r>
              <a:rPr lang="en-US" i="1" dirty="0"/>
              <a:t> </a:t>
            </a:r>
            <a:r>
              <a:rPr lang="en-US" i="1" dirty="0" err="1"/>
              <a:t>geçerlidir</a:t>
            </a:r>
            <a:r>
              <a:rPr lang="en-US" i="1" dirty="0" smtClean="0"/>
              <a:t>.</a:t>
            </a:r>
            <a:endParaRPr lang="tr-TR" i="1" dirty="0" smtClean="0"/>
          </a:p>
          <a:p>
            <a:pPr marL="0" indent="0">
              <a:buNone/>
            </a:pPr>
            <a:r>
              <a:rPr lang="en-US" b="1" dirty="0" err="1"/>
              <a:t>Kullanıcı</a:t>
            </a:r>
            <a:r>
              <a:rPr lang="en-US" b="1" dirty="0"/>
              <a:t> </a:t>
            </a:r>
            <a:r>
              <a:rPr lang="en-US" b="1" dirty="0" err="1"/>
              <a:t>Tanımlama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Users </a:t>
            </a:r>
            <a:r>
              <a:rPr lang="en-US" dirty="0" err="1"/>
              <a:t>sekmesine</a:t>
            </a:r>
            <a:r>
              <a:rPr lang="en-US" dirty="0"/>
              <a:t> </a:t>
            </a:r>
            <a:r>
              <a:rPr lang="en-US" dirty="0" err="1"/>
              <a:t>basıp</a:t>
            </a:r>
            <a:r>
              <a:rPr lang="en-US" dirty="0"/>
              <a:t>, Add User </a:t>
            </a:r>
            <a:r>
              <a:rPr lang="en-US" dirty="0" err="1"/>
              <a:t>butonuna</a:t>
            </a:r>
            <a:r>
              <a:rPr lang="en-US" dirty="0"/>
              <a:t> </a:t>
            </a:r>
            <a:r>
              <a:rPr lang="en-US" dirty="0" err="1"/>
              <a:t>basarak</a:t>
            </a:r>
            <a:r>
              <a:rPr lang="en-US" dirty="0"/>
              <a:t> </a:t>
            </a:r>
            <a:r>
              <a:rPr lang="en-US" dirty="0" err="1"/>
              <a:t>app_admin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app_user</a:t>
            </a:r>
            <a:r>
              <a:rPr lang="en-US" dirty="0"/>
              <a:t> </a:t>
            </a:r>
            <a:r>
              <a:rPr lang="en-US" dirty="0" err="1"/>
              <a:t>adından</a:t>
            </a:r>
            <a:r>
              <a:rPr lang="en-US" dirty="0"/>
              <a:t>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tanımlıyoruz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23" y="3560460"/>
            <a:ext cx="10566943" cy="31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sz="2400" dirty="0"/>
              <a:t>Credentials </a:t>
            </a:r>
            <a:r>
              <a:rPr lang="en-US" sz="2400" dirty="0" err="1"/>
              <a:t>sekmesine</a:t>
            </a:r>
            <a:r>
              <a:rPr lang="en-US" sz="2400" dirty="0"/>
              <a:t> </a:t>
            </a:r>
            <a:r>
              <a:rPr lang="en-US" sz="2400" dirty="0" err="1"/>
              <a:t>gelerek</a:t>
            </a:r>
            <a:r>
              <a:rPr lang="en-US" sz="2400" dirty="0"/>
              <a:t> </a:t>
            </a:r>
            <a:r>
              <a:rPr lang="en-US" sz="2400" dirty="0" err="1"/>
              <a:t>burada</a:t>
            </a:r>
            <a:r>
              <a:rPr lang="en-US" sz="2400" dirty="0"/>
              <a:t> </a:t>
            </a:r>
            <a:r>
              <a:rPr lang="en-US" sz="2400" dirty="0" err="1"/>
              <a:t>kullanıcı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şifre</a:t>
            </a:r>
            <a:r>
              <a:rPr lang="en-US" sz="2400" dirty="0"/>
              <a:t> </a:t>
            </a:r>
            <a:r>
              <a:rPr lang="en-US" sz="2400" dirty="0" err="1"/>
              <a:t>oluşturulur</a:t>
            </a:r>
            <a:r>
              <a:rPr lang="en-US" sz="2400" dirty="0"/>
              <a:t>. </a:t>
            </a:r>
            <a:r>
              <a:rPr lang="en-US" sz="2400" b="1" dirty="0"/>
              <a:t>Temporary</a:t>
            </a:r>
            <a:r>
              <a:rPr lang="en-US" sz="2400" dirty="0"/>
              <a:t> </a:t>
            </a:r>
            <a:r>
              <a:rPr lang="en-US" sz="2400" dirty="0" err="1"/>
              <a:t>özelliği</a:t>
            </a:r>
            <a:r>
              <a:rPr lang="en-US" sz="2400" dirty="0"/>
              <a:t> </a:t>
            </a:r>
            <a:r>
              <a:rPr lang="en-US" sz="2400" dirty="0" err="1"/>
              <a:t>açık</a:t>
            </a:r>
            <a:r>
              <a:rPr lang="en-US" sz="2400" dirty="0"/>
              <a:t> </a:t>
            </a:r>
            <a:r>
              <a:rPr lang="en-US" sz="2400" dirty="0" err="1"/>
              <a:t>olduğunda</a:t>
            </a:r>
            <a:r>
              <a:rPr lang="en-US" sz="2400" dirty="0"/>
              <a:t> </a:t>
            </a:r>
            <a:r>
              <a:rPr lang="en-US" sz="2400" dirty="0" err="1"/>
              <a:t>geçici</a:t>
            </a:r>
            <a:r>
              <a:rPr lang="en-US" sz="2400" dirty="0"/>
              <a:t> bir </a:t>
            </a:r>
            <a:r>
              <a:rPr lang="en-US" sz="2400" dirty="0" err="1"/>
              <a:t>şifre</a:t>
            </a:r>
            <a:r>
              <a:rPr lang="en-US" sz="2400" dirty="0"/>
              <a:t> </a:t>
            </a:r>
            <a:r>
              <a:rPr lang="en-US" sz="2400" dirty="0" err="1"/>
              <a:t>tanımlanıyor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kullanıcı</a:t>
            </a:r>
            <a:r>
              <a:rPr lang="en-US" sz="2400" dirty="0"/>
              <a:t> </a:t>
            </a:r>
            <a:r>
              <a:rPr lang="en-US" sz="2400" dirty="0" err="1"/>
              <a:t>sisteme</a:t>
            </a:r>
            <a:r>
              <a:rPr lang="en-US" sz="2400" dirty="0"/>
              <a:t> ilk </a:t>
            </a:r>
            <a:r>
              <a:rPr lang="en-US" sz="2400" dirty="0" err="1"/>
              <a:t>giriş</a:t>
            </a:r>
            <a:r>
              <a:rPr lang="en-US" sz="2400" dirty="0"/>
              <a:t> </a:t>
            </a:r>
            <a:r>
              <a:rPr lang="en-US" sz="2400" dirty="0" err="1"/>
              <a:t>yaptığında</a:t>
            </a:r>
            <a:r>
              <a:rPr lang="en-US" sz="2400" dirty="0"/>
              <a:t> </a:t>
            </a:r>
            <a:r>
              <a:rPr lang="en-US" sz="2400" dirty="0" err="1"/>
              <a:t>yeni</a:t>
            </a:r>
            <a:r>
              <a:rPr lang="en-US" sz="2400" dirty="0"/>
              <a:t> bir </a:t>
            </a:r>
            <a:r>
              <a:rPr lang="en-US" sz="2400" dirty="0" err="1"/>
              <a:t>şifre</a:t>
            </a:r>
            <a:r>
              <a:rPr lang="en-US" sz="2400" dirty="0"/>
              <a:t> </a:t>
            </a:r>
            <a:r>
              <a:rPr lang="en-US" sz="2400" dirty="0" err="1"/>
              <a:t>belirlemesi</a:t>
            </a:r>
            <a:r>
              <a:rPr lang="en-US" sz="2400" dirty="0"/>
              <a:t> </a:t>
            </a:r>
            <a:r>
              <a:rPr lang="en-US" sz="2400" dirty="0" err="1"/>
              <a:t>istenir</a:t>
            </a:r>
            <a:r>
              <a:rPr lang="en-US" sz="2400" dirty="0"/>
              <a:t>. </a:t>
            </a:r>
            <a:r>
              <a:rPr lang="en-US" sz="2400" dirty="0" err="1"/>
              <a:t>Bunu</a:t>
            </a:r>
            <a:r>
              <a:rPr lang="en-US" sz="2400" dirty="0"/>
              <a:t> </a:t>
            </a:r>
            <a:r>
              <a:rPr lang="en-US" sz="2400" dirty="0" err="1" smtClean="0"/>
              <a:t>istemediğim</a:t>
            </a:r>
            <a:r>
              <a:rPr lang="tr-TR" sz="2400" dirty="0" smtClean="0"/>
              <a:t>iz</a:t>
            </a:r>
            <a:r>
              <a:rPr lang="en-US" sz="2400" dirty="0" smtClean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özelliği</a:t>
            </a:r>
            <a:r>
              <a:rPr lang="en-US" sz="2400" dirty="0"/>
              <a:t> </a:t>
            </a:r>
            <a:r>
              <a:rPr lang="en-US" sz="2400" dirty="0" err="1" smtClean="0"/>
              <a:t>kapatıyoru</a:t>
            </a:r>
            <a:r>
              <a:rPr lang="tr-TR" sz="2400" dirty="0" smtClean="0"/>
              <a:t>z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69" y="0"/>
            <a:ext cx="11405186" cy="265808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043" y="4186408"/>
            <a:ext cx="10452637" cy="232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8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err="1"/>
              <a:t>Keycloak</a:t>
            </a:r>
            <a:r>
              <a:rPr lang="en-US" sz="2000" b="1" dirty="0"/>
              <a:t> </a:t>
            </a:r>
            <a:r>
              <a:rPr lang="en-US" sz="2000" b="1" dirty="0" err="1"/>
              <a:t>Access_Token</a:t>
            </a:r>
            <a:r>
              <a:rPr lang="en-US" sz="2000" b="1" dirty="0"/>
              <a:t>’ ın </a:t>
            </a:r>
            <a:r>
              <a:rPr lang="en-US" sz="2000" b="1" dirty="0" err="1"/>
              <a:t>Oluşturulması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Buraya</a:t>
            </a:r>
            <a:r>
              <a:rPr lang="en-US" sz="2000" dirty="0"/>
              <a:t> </a:t>
            </a:r>
            <a:r>
              <a:rPr lang="en-US" sz="2000" dirty="0" err="1"/>
              <a:t>kadar</a:t>
            </a:r>
            <a:r>
              <a:rPr lang="en-US" sz="2000" dirty="0"/>
              <a:t> </a:t>
            </a:r>
            <a:r>
              <a:rPr lang="en-US" sz="2000" b="1" dirty="0" err="1"/>
              <a:t>Keycloak</a:t>
            </a:r>
            <a:r>
              <a:rPr lang="en-US" sz="2000" dirty="0"/>
              <a:t>’ u </a:t>
            </a:r>
            <a:r>
              <a:rPr lang="en-US" sz="2000" dirty="0" err="1"/>
              <a:t>ayağa</a:t>
            </a:r>
            <a:r>
              <a:rPr lang="en-US" sz="2000" dirty="0"/>
              <a:t> </a:t>
            </a:r>
            <a:r>
              <a:rPr lang="en-US" sz="2000" dirty="0" err="1"/>
              <a:t>kaldırma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realm, client, </a:t>
            </a:r>
            <a:r>
              <a:rPr lang="en-US" sz="2000" dirty="0" err="1"/>
              <a:t>kullanıcı</a:t>
            </a:r>
            <a:r>
              <a:rPr lang="en-US" sz="2000" dirty="0"/>
              <a:t> </a:t>
            </a:r>
            <a:r>
              <a:rPr lang="en-US" sz="2000" dirty="0" err="1"/>
              <a:t>tanımlama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rol</a:t>
            </a:r>
            <a:r>
              <a:rPr lang="en-US" sz="2000" dirty="0"/>
              <a:t> </a:t>
            </a:r>
            <a:r>
              <a:rPr lang="en-US" sz="2000" dirty="0" err="1"/>
              <a:t>atama</a:t>
            </a:r>
            <a:r>
              <a:rPr lang="en-US" sz="2000" dirty="0"/>
              <a:t> </a:t>
            </a:r>
            <a:r>
              <a:rPr lang="en-US" sz="2000" dirty="0" err="1"/>
              <a:t>işlemlerinden</a:t>
            </a:r>
            <a:r>
              <a:rPr lang="en-US" sz="2000" dirty="0"/>
              <a:t> </a:t>
            </a:r>
            <a:r>
              <a:rPr lang="en-US" sz="2000" dirty="0" err="1"/>
              <a:t>bahsettik</a:t>
            </a:r>
            <a:r>
              <a:rPr lang="en-US" sz="2000" dirty="0"/>
              <a:t>. </a:t>
            </a:r>
            <a:r>
              <a:rPr lang="en-US" sz="2000" dirty="0" err="1"/>
              <a:t>Şimdi</a:t>
            </a:r>
            <a:r>
              <a:rPr lang="en-US" sz="2000" dirty="0"/>
              <a:t> de </a:t>
            </a:r>
            <a:r>
              <a:rPr lang="en-US" sz="2000" dirty="0" err="1"/>
              <a:t>keycloak</a:t>
            </a:r>
            <a:r>
              <a:rPr lang="en-US" sz="2000" dirty="0"/>
              <a:t>’ u </a:t>
            </a:r>
            <a:r>
              <a:rPr lang="en-US" sz="2000" dirty="0" err="1"/>
              <a:t>kullanarak</a:t>
            </a:r>
            <a:r>
              <a:rPr lang="en-US" sz="2000" dirty="0"/>
              <a:t> </a:t>
            </a:r>
            <a:r>
              <a:rPr lang="en-US" sz="2000" dirty="0" err="1"/>
              <a:t>uygulamamızı</a:t>
            </a:r>
            <a:r>
              <a:rPr lang="en-US" sz="2000" dirty="0"/>
              <a:t> </a:t>
            </a:r>
            <a:r>
              <a:rPr lang="en-US" sz="2000" dirty="0" err="1"/>
              <a:t>nasıl</a:t>
            </a:r>
            <a:r>
              <a:rPr lang="en-US" sz="2000" dirty="0"/>
              <a:t> </a:t>
            </a:r>
            <a:r>
              <a:rPr lang="en-US" sz="2000" dirty="0" err="1"/>
              <a:t>güvenli</a:t>
            </a:r>
            <a:r>
              <a:rPr lang="en-US" sz="2000" dirty="0"/>
              <a:t> hale </a:t>
            </a:r>
            <a:r>
              <a:rPr lang="en-US" sz="2000" dirty="0" err="1"/>
              <a:t>getireceğimize</a:t>
            </a:r>
            <a:r>
              <a:rPr lang="en-US" sz="2000" dirty="0"/>
              <a:t> </a:t>
            </a:r>
            <a:r>
              <a:rPr lang="en-US" sz="2000" dirty="0" err="1"/>
              <a:t>bakacağız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İlk </a:t>
            </a:r>
            <a:r>
              <a:rPr lang="en-US" sz="2000" dirty="0" err="1"/>
              <a:t>olarak</a:t>
            </a:r>
            <a:r>
              <a:rPr lang="en-US" sz="2000" dirty="0"/>
              <a:t> </a:t>
            </a:r>
            <a:r>
              <a:rPr lang="en-US" sz="2000" b="1" i="1" dirty="0"/>
              <a:t>Realm</a:t>
            </a:r>
            <a:r>
              <a:rPr lang="en-US" sz="2000" i="1" dirty="0"/>
              <a:t> </a:t>
            </a:r>
            <a:r>
              <a:rPr lang="en-US" sz="2000" b="1" i="1" dirty="0"/>
              <a:t>settings</a:t>
            </a:r>
            <a:r>
              <a:rPr lang="en-US" sz="2000" i="1" dirty="0"/>
              <a:t> </a:t>
            </a:r>
            <a:r>
              <a:rPr lang="en-US" sz="2000" dirty="0" err="1"/>
              <a:t>sekmesi</a:t>
            </a:r>
            <a:r>
              <a:rPr lang="en-US" sz="2000" dirty="0"/>
              <a:t> </a:t>
            </a:r>
            <a:r>
              <a:rPr lang="en-US" sz="2000" dirty="0" err="1"/>
              <a:t>açılır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 </a:t>
            </a:r>
            <a:r>
              <a:rPr lang="en-US" sz="2000" i="1" dirty="0" err="1"/>
              <a:t>OpenID</a:t>
            </a:r>
            <a:r>
              <a:rPr lang="en-US" sz="2000" i="1" dirty="0"/>
              <a:t> Endpoint Configuration </a:t>
            </a:r>
            <a:r>
              <a:rPr lang="en-US" sz="2000" dirty="0" err="1"/>
              <a:t>linkine</a:t>
            </a:r>
            <a:r>
              <a:rPr lang="en-US" sz="2000" dirty="0"/>
              <a:t> </a:t>
            </a:r>
            <a:r>
              <a:rPr lang="en-US" sz="2000" dirty="0" err="1"/>
              <a:t>tıklanarak</a:t>
            </a:r>
            <a:r>
              <a:rPr lang="en-US" sz="2000" dirty="0"/>
              <a:t> “</a:t>
            </a:r>
            <a:r>
              <a:rPr lang="en-US" sz="2000" dirty="0" err="1"/>
              <a:t>token_endpoint</a:t>
            </a:r>
            <a:r>
              <a:rPr lang="en-US" sz="2000" dirty="0"/>
              <a:t>”: </a:t>
            </a:r>
            <a:r>
              <a:rPr lang="en-US" sz="2000" i="1" dirty="0"/>
              <a:t>”http://localhost:8080/realms/</a:t>
            </a:r>
            <a:r>
              <a:rPr lang="en-US" sz="2000" i="1" dirty="0" err="1"/>
              <a:t>SpringBootKeycloakProject</a:t>
            </a:r>
            <a:r>
              <a:rPr lang="en-US" sz="2000" i="1" dirty="0"/>
              <a:t>/protocol/</a:t>
            </a:r>
            <a:r>
              <a:rPr lang="en-US" sz="2000" i="1" dirty="0" err="1"/>
              <a:t>openid</a:t>
            </a:r>
            <a:r>
              <a:rPr lang="en-US" sz="2000" i="1" dirty="0"/>
              <a:t>-connect/token”</a:t>
            </a:r>
            <a:r>
              <a:rPr lang="en-US" sz="2000" dirty="0"/>
              <a:t> </a:t>
            </a:r>
            <a:r>
              <a:rPr lang="en-US" sz="2000" dirty="0" err="1"/>
              <a:t>değeri</a:t>
            </a:r>
            <a:r>
              <a:rPr lang="en-US" sz="2000" dirty="0"/>
              <a:t> </a:t>
            </a:r>
            <a:r>
              <a:rPr lang="en-US" sz="2000" dirty="0" err="1"/>
              <a:t>alınır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1" y="2181340"/>
            <a:ext cx="10928731" cy="467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346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sz="2000" b="1" i="1" dirty="0" err="1"/>
              <a:t>app_user</a:t>
            </a:r>
            <a:r>
              <a:rPr lang="en-US" sz="2000" b="1" i="1" dirty="0"/>
              <a:t> </a:t>
            </a:r>
            <a:r>
              <a:rPr lang="en-US" sz="2000" dirty="0" err="1"/>
              <a:t>kullanıcısı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access_token</a:t>
            </a:r>
            <a:r>
              <a:rPr lang="en-US" sz="2000" dirty="0"/>
              <a:t> </a:t>
            </a:r>
            <a:r>
              <a:rPr lang="en-US" sz="2000" dirty="0" err="1"/>
              <a:t>oluşturma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 err="1"/>
              <a:t>Postmande</a:t>
            </a:r>
            <a:r>
              <a:rPr lang="en-US" sz="2000" dirty="0"/>
              <a:t> bir post </a:t>
            </a:r>
            <a:r>
              <a:rPr lang="en-US" sz="2000" dirty="0" err="1"/>
              <a:t>requesti</a:t>
            </a:r>
            <a:r>
              <a:rPr lang="en-US" sz="2000" dirty="0"/>
              <a:t> </a:t>
            </a:r>
            <a:r>
              <a:rPr lang="en-US" sz="2000" dirty="0" err="1"/>
              <a:t>oluşturulur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burada</a:t>
            </a:r>
            <a:r>
              <a:rPr lang="en-US" sz="2000" dirty="0"/>
              <a:t> body </a:t>
            </a:r>
            <a:r>
              <a:rPr lang="en-US" sz="2000" dirty="0" err="1"/>
              <a:t>sekmesi</a:t>
            </a:r>
            <a:r>
              <a:rPr lang="en-US" sz="2000" dirty="0"/>
              <a:t> </a:t>
            </a:r>
            <a:r>
              <a:rPr lang="en-US" sz="2000" dirty="0" err="1"/>
              <a:t>altında</a:t>
            </a:r>
            <a:r>
              <a:rPr lang="en-US" sz="2000" dirty="0"/>
              <a:t> x-www-form-</a:t>
            </a:r>
            <a:r>
              <a:rPr lang="en-US" sz="2000" dirty="0" err="1"/>
              <a:t>urlencoded</a:t>
            </a:r>
            <a:r>
              <a:rPr lang="en-US" sz="2000" dirty="0"/>
              <a:t> </a:t>
            </a:r>
            <a:r>
              <a:rPr lang="en-US" sz="2000" dirty="0" err="1"/>
              <a:t>seçilir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 err="1"/>
              <a:t>Aşağıdaki</a:t>
            </a:r>
            <a:r>
              <a:rPr lang="en-US" sz="2000" dirty="0"/>
              <a:t> </a:t>
            </a:r>
            <a:r>
              <a:rPr lang="en-US" sz="2000" dirty="0" err="1"/>
              <a:t>konfigürasyonlar</a:t>
            </a:r>
            <a:r>
              <a:rPr lang="en-US" sz="2000" dirty="0"/>
              <a:t> </a:t>
            </a:r>
            <a:r>
              <a:rPr lang="en-US" sz="2000" dirty="0" err="1"/>
              <a:t>yapılır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b="1" dirty="0" err="1"/>
              <a:t>grant_type</a:t>
            </a:r>
            <a:r>
              <a:rPr lang="en-US" sz="2000" dirty="0"/>
              <a:t>: </a:t>
            </a:r>
            <a:r>
              <a:rPr lang="en-US" sz="2000" dirty="0" err="1"/>
              <a:t>Keycloak</a:t>
            </a:r>
            <a:r>
              <a:rPr lang="en-US" sz="2000" dirty="0"/>
              <a:t> authentication </a:t>
            </a:r>
            <a:r>
              <a:rPr lang="en-US" sz="2000" dirty="0" err="1"/>
              <a:t>ve</a:t>
            </a:r>
            <a:r>
              <a:rPr lang="en-US" sz="2000" dirty="0"/>
              <a:t> authorization </a:t>
            </a:r>
            <a:r>
              <a:rPr lang="en-US" sz="2000" dirty="0" err="1"/>
              <a:t>işlemi</a:t>
            </a:r>
            <a:r>
              <a:rPr lang="en-US" sz="2000" dirty="0"/>
              <a:t> </a:t>
            </a:r>
            <a:r>
              <a:rPr lang="en-US" sz="2000" dirty="0" err="1"/>
              <a:t>sırasında</a:t>
            </a:r>
            <a:r>
              <a:rPr lang="en-US" sz="2000" dirty="0"/>
              <a:t> </a:t>
            </a:r>
            <a:r>
              <a:rPr lang="en-US" sz="2000" dirty="0" err="1"/>
              <a:t>access_token</a:t>
            </a:r>
            <a:r>
              <a:rPr lang="en-US" sz="2000" dirty="0"/>
              <a:t> </a:t>
            </a:r>
            <a:r>
              <a:rPr lang="en-US" sz="2000" dirty="0" err="1"/>
              <a:t>elde</a:t>
            </a:r>
            <a:r>
              <a:rPr lang="en-US" sz="2000" dirty="0"/>
              <a:t> </a:t>
            </a:r>
            <a:r>
              <a:rPr lang="en-US" sz="2000" dirty="0" err="1"/>
              <a:t>etmek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birçok</a:t>
            </a:r>
            <a:r>
              <a:rPr lang="en-US" sz="2000" dirty="0"/>
              <a:t> </a:t>
            </a:r>
            <a:r>
              <a:rPr lang="en-US" sz="2000" b="1" dirty="0"/>
              <a:t>grant</a:t>
            </a:r>
            <a:r>
              <a:rPr lang="en-US" sz="2000" dirty="0"/>
              <a:t> </a:t>
            </a:r>
            <a:r>
              <a:rPr lang="en-US" sz="2000" b="1" dirty="0"/>
              <a:t>type</a:t>
            </a:r>
            <a:r>
              <a:rPr lang="en-US" sz="2000" dirty="0"/>
              <a:t>’ </a:t>
            </a:r>
            <a:r>
              <a:rPr lang="en-US" sz="2000" dirty="0" err="1"/>
              <a:t>ı</a:t>
            </a:r>
            <a:r>
              <a:rPr lang="en-US" sz="2000" dirty="0"/>
              <a:t> (</a:t>
            </a:r>
            <a:r>
              <a:rPr lang="en-US" sz="2000" dirty="0" err="1"/>
              <a:t>izin</a:t>
            </a:r>
            <a:r>
              <a:rPr lang="en-US" sz="2000" dirty="0"/>
              <a:t> tipi) </a:t>
            </a:r>
            <a:r>
              <a:rPr lang="en-US" sz="2000" dirty="0" err="1"/>
              <a:t>desteklemektedir</a:t>
            </a:r>
            <a:r>
              <a:rPr lang="en-US" sz="2000" dirty="0"/>
              <a:t>. </a:t>
            </a:r>
            <a:r>
              <a:rPr lang="en-US" sz="2000" dirty="0" err="1"/>
              <a:t>Bunlardan</a:t>
            </a:r>
            <a:r>
              <a:rPr lang="en-US" sz="2000" dirty="0"/>
              <a:t> </a:t>
            </a:r>
            <a:r>
              <a:rPr lang="en-US" sz="2000" dirty="0" err="1"/>
              <a:t>biri</a:t>
            </a:r>
            <a:r>
              <a:rPr lang="en-US" sz="2000" dirty="0"/>
              <a:t> de </a:t>
            </a:r>
            <a:r>
              <a:rPr lang="en-US" sz="2000" b="1" dirty="0"/>
              <a:t>password</a:t>
            </a:r>
            <a:r>
              <a:rPr lang="en-US" sz="2000" dirty="0"/>
              <a:t>’ </a:t>
            </a:r>
            <a:r>
              <a:rPr lang="en-US" sz="2000" dirty="0" err="1"/>
              <a:t>dür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72" y="2050428"/>
            <a:ext cx="11347372" cy="464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57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sz="2400" i="1" u="sng" dirty="0">
                <a:hlinkClick r:id="rId2"/>
              </a:rPr>
              <a:t>http://localhost:8080/realms/SpringBootKeycloakProject/protocol/openid-connect/token</a:t>
            </a:r>
            <a:r>
              <a:rPr lang="en-US" sz="2400" dirty="0"/>
              <a:t> endpoint’ </a:t>
            </a:r>
            <a:r>
              <a:rPr lang="en-US" sz="2400" dirty="0" err="1"/>
              <a:t>i</a:t>
            </a:r>
            <a:r>
              <a:rPr lang="en-US" sz="2400" dirty="0"/>
              <a:t> Postman’ e </a:t>
            </a:r>
            <a:r>
              <a:rPr lang="en-US" sz="2400" dirty="0" err="1"/>
              <a:t>yapıştırılıp</a:t>
            </a:r>
            <a:r>
              <a:rPr lang="en-US" sz="2400" dirty="0"/>
              <a:t> post </a:t>
            </a:r>
            <a:r>
              <a:rPr lang="en-US" sz="2400" dirty="0" err="1"/>
              <a:t>isteği</a:t>
            </a:r>
            <a:r>
              <a:rPr lang="en-US" sz="2400" dirty="0"/>
              <a:t> </a:t>
            </a:r>
            <a:r>
              <a:rPr lang="en-US" sz="2400" dirty="0" err="1"/>
              <a:t>gönderilir</a:t>
            </a:r>
            <a:r>
              <a:rPr lang="en-US" sz="2400" dirty="0"/>
              <a:t>. </a:t>
            </a:r>
            <a:r>
              <a:rPr lang="en-US" sz="2400" dirty="0" err="1"/>
              <a:t>Dönüş</a:t>
            </a:r>
            <a:r>
              <a:rPr lang="en-US" sz="2400" dirty="0"/>
              <a:t> </a:t>
            </a:r>
            <a:r>
              <a:rPr lang="en-US" sz="2400" dirty="0" err="1"/>
              <a:t>değeri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bir </a:t>
            </a:r>
            <a:r>
              <a:rPr lang="en-US" sz="2400" dirty="0" err="1"/>
              <a:t>access_token</a:t>
            </a:r>
            <a:r>
              <a:rPr lang="en-US" sz="2400" dirty="0"/>
              <a:t> </a:t>
            </a:r>
            <a:r>
              <a:rPr lang="en-US" sz="2400" dirty="0" err="1"/>
              <a:t>dönüyor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biz </a:t>
            </a:r>
            <a:r>
              <a:rPr lang="en-US" sz="2400" dirty="0" err="1"/>
              <a:t>bu</a:t>
            </a:r>
            <a:r>
              <a:rPr lang="en-US" sz="2400" dirty="0"/>
              <a:t> token’ </a:t>
            </a:r>
            <a:r>
              <a:rPr lang="en-US" sz="2400" dirty="0" err="1"/>
              <a:t>ı</a:t>
            </a:r>
            <a:r>
              <a:rPr lang="en-US" sz="2400" dirty="0"/>
              <a:t> </a:t>
            </a:r>
            <a:r>
              <a:rPr lang="en-US" sz="2400" dirty="0" err="1"/>
              <a:t>kullanacağız</a:t>
            </a:r>
            <a:r>
              <a:rPr lang="en-US" sz="2400" dirty="0" smtClean="0"/>
              <a:t>.</a:t>
            </a:r>
            <a:endParaRPr lang="tr-TR" sz="2400" dirty="0" smtClean="0"/>
          </a:p>
          <a:p>
            <a:pPr marL="0" indent="0">
              <a:buNone/>
            </a:pPr>
            <a:r>
              <a:rPr lang="en-US" sz="2400" b="1" dirty="0"/>
              <a:t>Spring Boot </a:t>
            </a:r>
            <a:r>
              <a:rPr lang="en-US" sz="2400" b="1" dirty="0" err="1"/>
              <a:t>Projesinin</a:t>
            </a:r>
            <a:r>
              <a:rPr lang="en-US" sz="2400" b="1" dirty="0"/>
              <a:t> </a:t>
            </a:r>
            <a:r>
              <a:rPr lang="en-US" sz="2400" b="1" dirty="0" err="1"/>
              <a:t>Oluşturulması</a:t>
            </a:r>
            <a:endParaRPr lang="en-US" sz="2400" dirty="0"/>
          </a:p>
          <a:p>
            <a:pPr marL="0" indent="0">
              <a:buNone/>
            </a:pPr>
            <a:r>
              <a:rPr lang="en-US" sz="2400" u="sng" dirty="0">
                <a:hlinkClick r:id="rId3"/>
              </a:rPr>
              <a:t>Spring </a:t>
            </a:r>
            <a:r>
              <a:rPr lang="en-US" sz="2400" u="sng" dirty="0" err="1">
                <a:hlinkClick r:id="rId3"/>
              </a:rPr>
              <a:t>Initializr</a:t>
            </a:r>
            <a:r>
              <a:rPr lang="en-US" sz="2400" dirty="0"/>
              <a:t> </a:t>
            </a:r>
            <a:r>
              <a:rPr lang="en-US" sz="2400" dirty="0" err="1"/>
              <a:t>sitesine</a:t>
            </a:r>
            <a:r>
              <a:rPr lang="en-US" sz="2400" dirty="0"/>
              <a:t> </a:t>
            </a:r>
            <a:r>
              <a:rPr lang="en-US" sz="2400" dirty="0" err="1"/>
              <a:t>gidilerek</a:t>
            </a:r>
            <a:r>
              <a:rPr lang="en-US" sz="2400" dirty="0"/>
              <a:t> Spring Boot </a:t>
            </a:r>
            <a:r>
              <a:rPr lang="en-US" sz="2400" dirty="0" err="1"/>
              <a:t>projesi</a:t>
            </a:r>
            <a:r>
              <a:rPr lang="en-US" sz="2400" dirty="0"/>
              <a:t> </a:t>
            </a:r>
            <a:r>
              <a:rPr lang="en-US" sz="2400" dirty="0" err="1"/>
              <a:t>oluşturulur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 err="1"/>
              <a:t>Basit</a:t>
            </a:r>
            <a:r>
              <a:rPr lang="en-US" sz="2400" dirty="0"/>
              <a:t>, </a:t>
            </a:r>
            <a:r>
              <a:rPr lang="en-US" sz="2400" dirty="0" err="1"/>
              <a:t>temel</a:t>
            </a:r>
            <a:r>
              <a:rPr lang="en-US" sz="2400" dirty="0"/>
              <a:t> </a:t>
            </a:r>
            <a:r>
              <a:rPr lang="en-US" sz="2400" dirty="0" err="1"/>
              <a:t>düzeyde</a:t>
            </a:r>
            <a:r>
              <a:rPr lang="en-US" sz="2400" dirty="0"/>
              <a:t> bir </a:t>
            </a:r>
            <a:r>
              <a:rPr lang="en-US" sz="2400" dirty="0" err="1"/>
              <a:t>proje</a:t>
            </a:r>
            <a:r>
              <a:rPr lang="en-US" sz="2400" dirty="0"/>
              <a:t> </a:t>
            </a:r>
            <a:r>
              <a:rPr lang="en-US" sz="2400" dirty="0" err="1"/>
              <a:t>olacağı</a:t>
            </a:r>
            <a:r>
              <a:rPr lang="en-US" sz="2400" dirty="0"/>
              <a:t> </a:t>
            </a:r>
            <a:r>
              <a:rPr lang="en-US" sz="2400" dirty="0" err="1"/>
              <a:t>için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bağımlılığın</a:t>
            </a:r>
            <a:r>
              <a:rPr lang="en-US" sz="2400" dirty="0"/>
              <a:t> </a:t>
            </a:r>
            <a:r>
              <a:rPr lang="en-US" sz="2400" dirty="0" err="1"/>
              <a:t>eklenmesi</a:t>
            </a:r>
            <a:r>
              <a:rPr lang="en-US" sz="2400" dirty="0"/>
              <a:t> </a:t>
            </a:r>
            <a:r>
              <a:rPr lang="en-US" sz="2400" dirty="0" err="1"/>
              <a:t>yeterli</a:t>
            </a:r>
            <a:r>
              <a:rPr lang="en-US" sz="2400" dirty="0"/>
              <a:t> </a:t>
            </a:r>
            <a:r>
              <a:rPr lang="en-US" sz="2400" dirty="0" err="1"/>
              <a:t>olacaktır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39" y="2940677"/>
            <a:ext cx="10693950" cy="37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76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spring.application.name:</a:t>
            </a:r>
            <a:r>
              <a:rPr lang="en-US" dirty="0"/>
              <a:t> </a:t>
            </a:r>
            <a:r>
              <a:rPr lang="en-US" dirty="0" err="1"/>
              <a:t>uygulamanın</a:t>
            </a:r>
            <a:r>
              <a:rPr lang="en-US" dirty="0"/>
              <a:t> </a:t>
            </a:r>
            <a:r>
              <a:rPr lang="en-US" dirty="0" err="1"/>
              <a:t>ismini</a:t>
            </a:r>
            <a:r>
              <a:rPr lang="en-US" dirty="0"/>
              <a:t> “</a:t>
            </a:r>
            <a:r>
              <a:rPr lang="en-US" dirty="0" err="1"/>
              <a:t>springboot</a:t>
            </a:r>
            <a:r>
              <a:rPr lang="en-US" dirty="0"/>
              <a:t>-</a:t>
            </a:r>
            <a:r>
              <a:rPr lang="en-US" dirty="0" err="1"/>
              <a:t>keycloak</a:t>
            </a:r>
            <a:r>
              <a:rPr lang="en-US" dirty="0"/>
              <a:t>-integration”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ayarlar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spring.security.oauth2.resourceserver.jwt.issuer-uri:</a:t>
            </a:r>
            <a:r>
              <a:rPr lang="en-US" dirty="0"/>
              <a:t> </a:t>
            </a:r>
            <a:r>
              <a:rPr lang="en-US" dirty="0" err="1"/>
              <a:t>Yetkilendirme</a:t>
            </a:r>
            <a:r>
              <a:rPr lang="en-US" dirty="0"/>
              <a:t> </a:t>
            </a:r>
            <a:r>
              <a:rPr lang="en-US" dirty="0" err="1"/>
              <a:t>sunucusunun</a:t>
            </a:r>
            <a:r>
              <a:rPr lang="en-US" dirty="0"/>
              <a:t> URI’ </a:t>
            </a:r>
            <a:r>
              <a:rPr lang="en-US" dirty="0" err="1"/>
              <a:t>ını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 </a:t>
            </a:r>
            <a:r>
              <a:rPr lang="en-US" dirty="0" err="1"/>
              <a:t>Şekilde</a:t>
            </a:r>
            <a:r>
              <a:rPr lang="en-US" dirty="0"/>
              <a:t> de </a:t>
            </a:r>
            <a:r>
              <a:rPr lang="en-US" dirty="0" err="1"/>
              <a:t>görüleceği</a:t>
            </a:r>
            <a:r>
              <a:rPr lang="en-US" dirty="0"/>
              <a:t> </a:t>
            </a:r>
            <a:r>
              <a:rPr lang="en-US" dirty="0" err="1"/>
              <a:t>üzere</a:t>
            </a:r>
            <a:r>
              <a:rPr lang="en-US" dirty="0"/>
              <a:t> </a:t>
            </a:r>
            <a:r>
              <a:rPr lang="en-US" dirty="0" err="1"/>
              <a:t>SpringBootKeycloakProject</a:t>
            </a:r>
            <a:r>
              <a:rPr lang="en-US" dirty="0"/>
              <a:t> realm’ </a:t>
            </a:r>
            <a:r>
              <a:rPr lang="en-US" dirty="0" err="1"/>
              <a:t>inin</a:t>
            </a:r>
            <a:r>
              <a:rPr lang="en-US" dirty="0"/>
              <a:t> </a:t>
            </a:r>
            <a:r>
              <a:rPr lang="en-US" dirty="0" err="1"/>
              <a:t>adresi</a:t>
            </a:r>
            <a:r>
              <a:rPr lang="en-US" dirty="0"/>
              <a:t> </a:t>
            </a:r>
            <a:r>
              <a:rPr lang="en-US" dirty="0" err="1"/>
              <a:t>verilmiştir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spring.security.oauth2.resourceserver.jwt.jwk-set-uri:</a:t>
            </a:r>
            <a:r>
              <a:rPr lang="en-US" dirty="0"/>
              <a:t> JSON Web </a:t>
            </a:r>
            <a:r>
              <a:rPr lang="en-US" dirty="0" err="1"/>
              <a:t>Anahtarı</a:t>
            </a:r>
            <a:r>
              <a:rPr lang="en-US" dirty="0"/>
              <a:t> (JWK), </a:t>
            </a:r>
            <a:r>
              <a:rPr lang="en-US" dirty="0" err="1"/>
              <a:t>şifreleme</a:t>
            </a:r>
            <a:r>
              <a:rPr lang="en-US" dirty="0"/>
              <a:t> </a:t>
            </a:r>
            <a:r>
              <a:rPr lang="en-US" dirty="0" err="1"/>
              <a:t>anahtarını</a:t>
            </a:r>
            <a:r>
              <a:rPr lang="en-US" dirty="0"/>
              <a:t> </a:t>
            </a:r>
            <a:r>
              <a:rPr lang="en-US" dirty="0" err="1"/>
              <a:t>temsil</a:t>
            </a:r>
            <a:r>
              <a:rPr lang="en-US" dirty="0"/>
              <a:t> </a:t>
            </a:r>
            <a:r>
              <a:rPr lang="en-US" dirty="0" err="1"/>
              <a:t>eden</a:t>
            </a:r>
            <a:r>
              <a:rPr lang="en-US" dirty="0"/>
              <a:t> bir JSON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yapısıdır</a:t>
            </a:r>
            <a:r>
              <a:rPr lang="en-US" dirty="0"/>
              <a:t>. JWT </a:t>
            </a:r>
            <a:r>
              <a:rPr lang="en-US" dirty="0" err="1"/>
              <a:t>imzasını</a:t>
            </a:r>
            <a:r>
              <a:rPr lang="en-US" dirty="0"/>
              <a:t> </a:t>
            </a:r>
            <a:r>
              <a:rPr lang="en-US" dirty="0" err="1"/>
              <a:t>doğrulamak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public key’ </a:t>
            </a:r>
            <a:r>
              <a:rPr lang="en-US" dirty="0" err="1"/>
              <a:t>lerin</a:t>
            </a:r>
            <a:r>
              <a:rPr lang="en-US" dirty="0"/>
              <a:t>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URL’sini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server.port</a:t>
            </a:r>
            <a:r>
              <a:rPr lang="en-US" b="1" dirty="0"/>
              <a:t>:</a:t>
            </a:r>
            <a:r>
              <a:rPr lang="en-US" dirty="0"/>
              <a:t> Spring Boot </a:t>
            </a:r>
            <a:r>
              <a:rPr lang="en-US" dirty="0" err="1"/>
              <a:t>projenin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portta</a:t>
            </a:r>
            <a:r>
              <a:rPr lang="en-US" dirty="0"/>
              <a:t> </a:t>
            </a:r>
            <a:r>
              <a:rPr lang="en-US" dirty="0" err="1"/>
              <a:t>çalışacağını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/>
              <a:t>. Default </a:t>
            </a:r>
            <a:r>
              <a:rPr lang="en-US" dirty="0" err="1"/>
              <a:t>olarak</a:t>
            </a:r>
            <a:r>
              <a:rPr lang="en-US" dirty="0"/>
              <a:t> spring boot 8080 </a:t>
            </a:r>
            <a:r>
              <a:rPr lang="en-US" dirty="0" err="1"/>
              <a:t>portunda</a:t>
            </a:r>
            <a:r>
              <a:rPr lang="en-US" dirty="0"/>
              <a:t> </a:t>
            </a:r>
            <a:r>
              <a:rPr lang="en-US" dirty="0" err="1"/>
              <a:t>çalışır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en-US" dirty="0" err="1"/>
              <a:t>sunucusu</a:t>
            </a:r>
            <a:r>
              <a:rPr lang="en-US" dirty="0"/>
              <a:t> o </a:t>
            </a:r>
            <a:r>
              <a:rPr lang="en-US" dirty="0" err="1"/>
              <a:t>portu</a:t>
            </a:r>
            <a:r>
              <a:rPr lang="en-US" dirty="0"/>
              <a:t> </a:t>
            </a:r>
            <a:r>
              <a:rPr lang="en-US" dirty="0" err="1"/>
              <a:t>kullandığı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konfigürasyonu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zorundayız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 err="1"/>
              <a:t>jwt.auth.converter.resource</a:t>
            </a:r>
            <a:r>
              <a:rPr lang="en-US" b="1" dirty="0"/>
              <a:t>-id: </a:t>
            </a:r>
            <a:r>
              <a:rPr lang="en-US" dirty="0"/>
              <a:t>JWT token </a:t>
            </a:r>
            <a:r>
              <a:rPr lang="en-US" dirty="0" err="1"/>
              <a:t>içindeki</a:t>
            </a:r>
            <a:r>
              <a:rPr lang="en-US" dirty="0"/>
              <a:t> “</a:t>
            </a:r>
            <a:r>
              <a:rPr lang="en-US" b="1" dirty="0"/>
              <a:t>resource</a:t>
            </a:r>
            <a:r>
              <a:rPr lang="en-US" dirty="0"/>
              <a:t> ID” </a:t>
            </a:r>
            <a:r>
              <a:rPr lang="en-US" dirty="0" err="1"/>
              <a:t>claim’ini</a:t>
            </a:r>
            <a:r>
              <a:rPr lang="en-US" dirty="0"/>
              <a:t> “</a:t>
            </a:r>
            <a:r>
              <a:rPr lang="en-US" dirty="0" err="1"/>
              <a:t>springboot</a:t>
            </a:r>
            <a:r>
              <a:rPr lang="en-US" dirty="0"/>
              <a:t>-</a:t>
            </a:r>
            <a:r>
              <a:rPr lang="en-US" dirty="0" err="1"/>
              <a:t>keycloak</a:t>
            </a:r>
            <a:r>
              <a:rPr lang="en-US" dirty="0"/>
              <a:t>-demo-client”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ayarlar</a:t>
            </a:r>
            <a:r>
              <a:rPr lang="en-US" dirty="0"/>
              <a:t>. Bu, </a:t>
            </a:r>
            <a:r>
              <a:rPr lang="en-US" dirty="0" err="1"/>
              <a:t>kaynak</a:t>
            </a:r>
            <a:r>
              <a:rPr lang="en-US" dirty="0"/>
              <a:t> </a:t>
            </a:r>
            <a:r>
              <a:rPr lang="en-US" dirty="0" err="1"/>
              <a:t>sunucuya</a:t>
            </a:r>
            <a:r>
              <a:rPr lang="en-US" dirty="0"/>
              <a:t> (spring boot </a:t>
            </a:r>
            <a:r>
              <a:rPr lang="en-US" dirty="0" err="1"/>
              <a:t>uygulaması</a:t>
            </a:r>
            <a:r>
              <a:rPr lang="en-US" dirty="0"/>
              <a:t>) </a:t>
            </a:r>
            <a:r>
              <a:rPr lang="en-US" dirty="0" err="1"/>
              <a:t>erişim</a:t>
            </a:r>
            <a:r>
              <a:rPr lang="en-US" dirty="0"/>
              <a:t> </a:t>
            </a:r>
            <a:r>
              <a:rPr lang="en-US" dirty="0" err="1"/>
              <a:t>isteyen</a:t>
            </a:r>
            <a:r>
              <a:rPr lang="en-US" dirty="0"/>
              <a:t> </a:t>
            </a:r>
            <a:r>
              <a:rPr lang="en-US" dirty="0" err="1"/>
              <a:t>istemciyi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 err="1"/>
              <a:t>jwt.auth.converter.principle</a:t>
            </a:r>
            <a:r>
              <a:rPr lang="en-US" b="1" dirty="0"/>
              <a:t>-attribute: </a:t>
            </a:r>
            <a:r>
              <a:rPr lang="en-US" dirty="0" err="1"/>
              <a:t>Kullanıcıyı</a:t>
            </a:r>
            <a:r>
              <a:rPr lang="en-US" dirty="0"/>
              <a:t> </a:t>
            </a:r>
            <a:r>
              <a:rPr lang="en-US" dirty="0" err="1"/>
              <a:t>tanımlamak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JWT </a:t>
            </a:r>
            <a:r>
              <a:rPr lang="en-US" dirty="0" err="1"/>
              <a:t>token’daki</a:t>
            </a:r>
            <a:r>
              <a:rPr lang="en-US" dirty="0"/>
              <a:t> </a:t>
            </a:r>
            <a:r>
              <a:rPr lang="en-US" dirty="0" err="1"/>
              <a:t>hangi</a:t>
            </a:r>
            <a:r>
              <a:rPr lang="en-US" dirty="0"/>
              <a:t> </a:t>
            </a:r>
            <a:r>
              <a:rPr lang="en-US" dirty="0" err="1"/>
              <a:t>attribute’un</a:t>
            </a:r>
            <a:r>
              <a:rPr lang="en-US" dirty="0"/>
              <a:t> </a:t>
            </a:r>
            <a:r>
              <a:rPr lang="en-US" dirty="0" err="1"/>
              <a:t>kullanılacağını</a:t>
            </a:r>
            <a:r>
              <a:rPr lang="en-US" dirty="0"/>
              <a:t> </a:t>
            </a:r>
            <a:r>
              <a:rPr lang="en-US" dirty="0" err="1"/>
              <a:t>belirler</a:t>
            </a:r>
            <a:r>
              <a:rPr lang="en-US" dirty="0"/>
              <a:t> (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örnekte</a:t>
            </a:r>
            <a:r>
              <a:rPr lang="en-US" dirty="0"/>
              <a:t> “</a:t>
            </a:r>
            <a:r>
              <a:rPr lang="en-US" b="1" dirty="0" err="1"/>
              <a:t>preferred_username</a:t>
            </a:r>
            <a:r>
              <a:rPr lang="en-US" dirty="0"/>
              <a:t>”).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08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Özetle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konfigürasyon</a:t>
            </a:r>
            <a:r>
              <a:rPr lang="en-US" dirty="0"/>
              <a:t>, Spring Boot </a:t>
            </a:r>
            <a:r>
              <a:rPr lang="en-US" dirty="0" err="1"/>
              <a:t>uygulamamızı</a:t>
            </a:r>
            <a:r>
              <a:rPr lang="en-US" dirty="0"/>
              <a:t> bir </a:t>
            </a:r>
            <a:r>
              <a:rPr lang="en-US" dirty="0" err="1"/>
              <a:t>kaynak</a:t>
            </a:r>
            <a:r>
              <a:rPr lang="en-US" dirty="0"/>
              <a:t> </a:t>
            </a:r>
            <a:r>
              <a:rPr lang="en-US" dirty="0" err="1"/>
              <a:t>sunucu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ayarlar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i="1" u="sng" dirty="0">
                <a:hlinkClick r:id="rId2"/>
              </a:rPr>
              <a:t>http://localhost:8080/realms/SpringBootKeycloakProject</a:t>
            </a:r>
            <a:r>
              <a:rPr lang="en-US" dirty="0"/>
              <a:t> </a:t>
            </a:r>
            <a:r>
              <a:rPr lang="en-US" dirty="0" err="1"/>
              <a:t>adresindeki</a:t>
            </a:r>
            <a:r>
              <a:rPr lang="en-US" dirty="0"/>
              <a:t>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en-US" dirty="0" err="1"/>
              <a:t>sunucusunun</a:t>
            </a:r>
            <a:r>
              <a:rPr lang="en-US" dirty="0"/>
              <a:t> </a:t>
            </a:r>
            <a:r>
              <a:rPr lang="en-US" dirty="0" err="1"/>
              <a:t>yetkilendirdiği</a:t>
            </a:r>
            <a:r>
              <a:rPr lang="en-US" dirty="0"/>
              <a:t> </a:t>
            </a:r>
            <a:r>
              <a:rPr lang="en-US" b="1" dirty="0"/>
              <a:t>JWT</a:t>
            </a:r>
            <a:r>
              <a:rPr lang="en-US" dirty="0"/>
              <a:t> </a:t>
            </a:r>
            <a:r>
              <a:rPr lang="en-US" dirty="0" err="1"/>
              <a:t>token’ları</a:t>
            </a:r>
            <a:r>
              <a:rPr lang="en-US" dirty="0"/>
              <a:t> </a:t>
            </a:r>
            <a:r>
              <a:rPr lang="en-US" dirty="0" err="1"/>
              <a:t>kullanarak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doğrulamasını</a:t>
            </a:r>
            <a:r>
              <a:rPr lang="en-US" dirty="0"/>
              <a:t> </a:t>
            </a:r>
            <a:r>
              <a:rPr lang="en-US" dirty="0" err="1"/>
              <a:t>gerçekleştirir</a:t>
            </a:r>
            <a:r>
              <a:rPr lang="en-US" dirty="0"/>
              <a:t>. </a:t>
            </a:r>
            <a:r>
              <a:rPr lang="en-US" dirty="0" err="1"/>
              <a:t>Token’ları</a:t>
            </a:r>
            <a:r>
              <a:rPr lang="en-US" dirty="0"/>
              <a:t> </a:t>
            </a:r>
            <a:r>
              <a:rPr lang="en-US" dirty="0" err="1"/>
              <a:t>doğrulamak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bilgilerini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gerekli</a:t>
            </a:r>
            <a:r>
              <a:rPr lang="en-US" dirty="0"/>
              <a:t> </a:t>
            </a:r>
            <a:r>
              <a:rPr lang="en-US" dirty="0" err="1"/>
              <a:t>ayarları</a:t>
            </a:r>
            <a:r>
              <a:rPr lang="en-US" dirty="0"/>
              <a:t> </a:t>
            </a:r>
            <a:r>
              <a:rPr lang="en-US" dirty="0" err="1"/>
              <a:t>tanımlar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Konfigürasyonlar</a:t>
            </a:r>
            <a:r>
              <a:rPr lang="en-US" dirty="0"/>
              <a:t> </a:t>
            </a:r>
            <a:r>
              <a:rPr lang="en-US" dirty="0" err="1"/>
              <a:t>tamamlandıktan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, </a:t>
            </a:r>
            <a:r>
              <a:rPr lang="en-US" dirty="0" err="1"/>
              <a:t>uygulamayı</a:t>
            </a:r>
            <a:r>
              <a:rPr lang="en-US" dirty="0"/>
              <a:t> test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adına</a:t>
            </a:r>
            <a:r>
              <a:rPr lang="en-US" dirty="0"/>
              <a:t> </a:t>
            </a:r>
            <a:r>
              <a:rPr lang="en-US" dirty="0" err="1"/>
              <a:t>basit</a:t>
            </a:r>
            <a:r>
              <a:rPr lang="en-US" dirty="0"/>
              <a:t> bir controller </a:t>
            </a:r>
            <a:r>
              <a:rPr lang="en-US" dirty="0" err="1"/>
              <a:t>sınıfı</a:t>
            </a:r>
            <a:r>
              <a:rPr lang="en-US" dirty="0"/>
              <a:t> </a:t>
            </a:r>
            <a:r>
              <a:rPr lang="en-US" dirty="0" err="1"/>
              <a:t>yazıyoruz</a:t>
            </a:r>
            <a:r>
              <a:rPr lang="en-US" dirty="0"/>
              <a:t>. </a:t>
            </a:r>
            <a:r>
              <a:rPr lang="en-US" dirty="0" err="1"/>
              <a:t>Burada</a:t>
            </a:r>
            <a:r>
              <a:rPr lang="en-US" dirty="0"/>
              <a:t> </a:t>
            </a:r>
            <a:r>
              <a:rPr lang="en-US" dirty="0" err="1"/>
              <a:t>rol</a:t>
            </a:r>
            <a:r>
              <a:rPr lang="en-US" dirty="0"/>
              <a:t> </a:t>
            </a:r>
            <a:r>
              <a:rPr lang="en-US" dirty="0" err="1"/>
              <a:t>yönetimi</a:t>
            </a:r>
            <a:r>
              <a:rPr lang="en-US" dirty="0"/>
              <a:t> @</a:t>
            </a:r>
            <a:r>
              <a:rPr lang="en-US" dirty="0" err="1"/>
              <a:t>PreAuthorize</a:t>
            </a:r>
            <a:r>
              <a:rPr lang="en-US" dirty="0"/>
              <a:t> </a:t>
            </a:r>
            <a:r>
              <a:rPr lang="en-US" dirty="0" err="1"/>
              <a:t>anotasyonu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sağlanmaktadır</a:t>
            </a:r>
            <a:r>
              <a:rPr lang="en-US" dirty="0"/>
              <a:t>. </a:t>
            </a:r>
            <a:r>
              <a:rPr lang="en-US" b="1" dirty="0" err="1"/>
              <a:t>Örneğin</a:t>
            </a:r>
            <a:r>
              <a:rPr lang="en-US" b="1" dirty="0"/>
              <a:t> </a:t>
            </a:r>
            <a:r>
              <a:rPr lang="en-US" b="1" i="1" dirty="0"/>
              <a:t>/</a:t>
            </a:r>
            <a:r>
              <a:rPr lang="en-US" b="1" i="1" dirty="0" err="1"/>
              <a:t>api</a:t>
            </a:r>
            <a:r>
              <a:rPr lang="en-US" b="1" i="1" dirty="0"/>
              <a:t>/v1/demo/admin</a:t>
            </a:r>
            <a:r>
              <a:rPr lang="en-US" b="1" dirty="0"/>
              <a:t> </a:t>
            </a:r>
            <a:r>
              <a:rPr lang="en-US" dirty="0" err="1"/>
              <a:t>endpoint’ine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rolü</a:t>
            </a:r>
            <a:r>
              <a:rPr lang="en-US" dirty="0"/>
              <a:t> </a:t>
            </a:r>
            <a:r>
              <a:rPr lang="en-US" b="1" dirty="0" err="1"/>
              <a:t>client_admin</a:t>
            </a:r>
            <a:r>
              <a:rPr lang="en-US" b="1" dirty="0"/>
              <a:t> </a:t>
            </a:r>
            <a:r>
              <a:rPr lang="en-US" b="1" dirty="0" err="1"/>
              <a:t>olmalı</a:t>
            </a:r>
            <a:r>
              <a:rPr lang="en-US" b="1" dirty="0"/>
              <a:t>; </a:t>
            </a:r>
            <a:r>
              <a:rPr lang="en-US" b="1" i="1" dirty="0"/>
              <a:t>/</a:t>
            </a:r>
            <a:r>
              <a:rPr lang="en-US" b="1" i="1" dirty="0" err="1"/>
              <a:t>api</a:t>
            </a:r>
            <a:r>
              <a:rPr lang="en-US" b="1" i="1" dirty="0"/>
              <a:t>/v1/demo/hello-everyone</a:t>
            </a:r>
            <a:r>
              <a:rPr lang="en-US" dirty="0"/>
              <a:t> </a:t>
            </a:r>
            <a:r>
              <a:rPr lang="en-US" dirty="0" err="1"/>
              <a:t>endpoint’ine</a:t>
            </a:r>
            <a:r>
              <a:rPr lang="en-US" dirty="0"/>
              <a:t> </a:t>
            </a:r>
            <a:r>
              <a:rPr lang="en-US" dirty="0" err="1"/>
              <a:t>erişmek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rolü</a:t>
            </a:r>
            <a:r>
              <a:rPr lang="en-US" dirty="0"/>
              <a:t> </a:t>
            </a:r>
            <a:r>
              <a:rPr lang="en-US" b="1" dirty="0"/>
              <a:t>client-user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err="1"/>
              <a:t>client_admin</a:t>
            </a:r>
            <a:r>
              <a:rPr lang="en-US" dirty="0"/>
              <a:t> </a:t>
            </a:r>
            <a:r>
              <a:rPr lang="en-US" dirty="0" err="1"/>
              <a:t>rollerinden</a:t>
            </a:r>
            <a:r>
              <a:rPr lang="en-US" dirty="0"/>
              <a:t> </a:t>
            </a:r>
            <a:r>
              <a:rPr lang="en-US" dirty="0" err="1"/>
              <a:t>birine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yeterlidir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Security Filter Chain</a:t>
            </a:r>
            <a:r>
              <a:rPr lang="en-US" dirty="0"/>
              <a:t>, Spring Security’ de </a:t>
            </a:r>
            <a:r>
              <a:rPr lang="en-US" dirty="0" err="1"/>
              <a:t>gelen</a:t>
            </a:r>
            <a:r>
              <a:rPr lang="en-US" dirty="0"/>
              <a:t> HTTP </a:t>
            </a:r>
            <a:r>
              <a:rPr lang="en-US" dirty="0" err="1"/>
              <a:t>isteklerini</a:t>
            </a:r>
            <a:r>
              <a:rPr lang="en-US" dirty="0"/>
              <a:t> </a:t>
            </a:r>
            <a:r>
              <a:rPr lang="en-US" dirty="0" err="1"/>
              <a:t>korumak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bir </a:t>
            </a:r>
            <a:r>
              <a:rPr lang="en-US" dirty="0" err="1"/>
              <a:t>dizi</a:t>
            </a:r>
            <a:r>
              <a:rPr lang="en-US" dirty="0"/>
              <a:t> </a:t>
            </a:r>
            <a:r>
              <a:rPr lang="en-US" dirty="0" err="1"/>
              <a:t>filtreden</a:t>
            </a:r>
            <a:r>
              <a:rPr lang="en-US" dirty="0"/>
              <a:t> </a:t>
            </a:r>
            <a:r>
              <a:rPr lang="en-US" dirty="0" err="1"/>
              <a:t>oluşan</a:t>
            </a:r>
            <a:r>
              <a:rPr lang="en-US" dirty="0"/>
              <a:t> bir </a:t>
            </a:r>
            <a:r>
              <a:rPr lang="en-US" dirty="0" err="1"/>
              <a:t>yapıdır</a:t>
            </a:r>
            <a:r>
              <a:rPr lang="en-US" dirty="0"/>
              <a:t>. Bu </a:t>
            </a:r>
            <a:r>
              <a:rPr lang="en-US" dirty="0" err="1"/>
              <a:t>filtreler</a:t>
            </a:r>
            <a:r>
              <a:rPr lang="en-US" dirty="0"/>
              <a:t>, </a:t>
            </a:r>
            <a:r>
              <a:rPr lang="en-US" dirty="0" err="1"/>
              <a:t>istekleri</a:t>
            </a:r>
            <a:r>
              <a:rPr lang="en-US" dirty="0"/>
              <a:t> </a:t>
            </a:r>
            <a:r>
              <a:rPr lang="en-US" dirty="0" err="1"/>
              <a:t>sırayla</a:t>
            </a:r>
            <a:r>
              <a:rPr lang="en-US" dirty="0"/>
              <a:t> </a:t>
            </a:r>
            <a:r>
              <a:rPr lang="en-US" dirty="0" err="1"/>
              <a:t>işleyerek</a:t>
            </a:r>
            <a:r>
              <a:rPr lang="en-US" dirty="0"/>
              <a:t> </a:t>
            </a:r>
            <a:r>
              <a:rPr lang="en-US" dirty="0" err="1"/>
              <a:t>kimlik</a:t>
            </a:r>
            <a:r>
              <a:rPr lang="en-US" dirty="0"/>
              <a:t> </a:t>
            </a:r>
            <a:r>
              <a:rPr lang="en-US" dirty="0" err="1"/>
              <a:t>doğrulama</a:t>
            </a:r>
            <a:r>
              <a:rPr lang="en-US" dirty="0"/>
              <a:t>, </a:t>
            </a:r>
            <a:r>
              <a:rPr lang="en-US" dirty="0" err="1"/>
              <a:t>yetkilendirme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kontrollerini</a:t>
            </a:r>
            <a:r>
              <a:rPr lang="en-US" dirty="0"/>
              <a:t> </a:t>
            </a:r>
            <a:r>
              <a:rPr lang="en-US" dirty="0" err="1"/>
              <a:t>gerçekleştirir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631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/>
          <a:lstStyle/>
          <a:p>
            <a:pPr marL="0" indent="0">
              <a:buNone/>
            </a:pPr>
            <a:r>
              <a:rPr lang="tr-TR" b="1" dirty="0" smtClean="0"/>
              <a:t>KeycloakConfiguration</a:t>
            </a:r>
            <a:r>
              <a:rPr lang="tr-TR" dirty="0" smtClean="0"/>
              <a:t> </a:t>
            </a:r>
            <a:r>
              <a:rPr lang="en-US" dirty="0" err="1" smtClean="0"/>
              <a:t>sınıfın</a:t>
            </a:r>
            <a:r>
              <a:rPr lang="en-US" dirty="0" smtClean="0"/>
              <a:t> </a:t>
            </a:r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 </a:t>
            </a:r>
            <a:r>
              <a:rPr lang="en-US" dirty="0" err="1"/>
              <a:t>application.yml</a:t>
            </a:r>
            <a:r>
              <a:rPr lang="en-US" dirty="0"/>
              <a:t> </a:t>
            </a:r>
            <a:r>
              <a:rPr lang="en-US" dirty="0" err="1"/>
              <a:t>dosyasında</a:t>
            </a:r>
            <a:r>
              <a:rPr lang="en-US" dirty="0"/>
              <a:t> </a:t>
            </a:r>
            <a:r>
              <a:rPr lang="en-US" dirty="0" err="1"/>
              <a:t>tanımladığımız</a:t>
            </a:r>
            <a:r>
              <a:rPr lang="en-US" dirty="0"/>
              <a:t> </a:t>
            </a:r>
            <a:r>
              <a:rPr lang="en-US" dirty="0" err="1"/>
              <a:t>resourceId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b="1" dirty="0" smtClean="0"/>
              <a:t>principle</a:t>
            </a:r>
            <a:r>
              <a:rPr lang="tr-TR" b="1" dirty="0" smtClean="0"/>
              <a:t> </a:t>
            </a:r>
            <a:r>
              <a:rPr lang="en-US" b="1" dirty="0" smtClean="0"/>
              <a:t>Attributes</a:t>
            </a:r>
            <a:r>
              <a:rPr lang="en-US" dirty="0" smtClean="0"/>
              <a:t> </a:t>
            </a:r>
            <a:r>
              <a:rPr lang="en-US" dirty="0" err="1"/>
              <a:t>değişkenlerine</a:t>
            </a:r>
            <a:r>
              <a:rPr lang="en-US" dirty="0"/>
              <a:t>,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okuyup</a:t>
            </a:r>
            <a:r>
              <a:rPr lang="en-US" dirty="0"/>
              <a:t> </a:t>
            </a:r>
            <a:r>
              <a:rPr lang="en-US" dirty="0" err="1"/>
              <a:t>atmaktır</a:t>
            </a:r>
            <a:r>
              <a:rPr lang="en-US" dirty="0"/>
              <a:t>. </a:t>
            </a:r>
            <a:r>
              <a:rPr lang="en-US" dirty="0" err="1"/>
              <a:t>Yani</a:t>
            </a:r>
            <a:r>
              <a:rPr lang="en-US" dirty="0"/>
              <a:t> “</a:t>
            </a:r>
            <a:r>
              <a:rPr lang="en-US" b="1" dirty="0" err="1"/>
              <a:t>jwt.auth.converter</a:t>
            </a:r>
            <a:r>
              <a:rPr lang="en-US" dirty="0"/>
              <a:t>”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anahtar-değer</a:t>
            </a:r>
            <a:r>
              <a:rPr lang="en-US" dirty="0"/>
              <a:t> </a:t>
            </a:r>
            <a:r>
              <a:rPr lang="en-US" dirty="0" err="1"/>
              <a:t>çiftlerini</a:t>
            </a:r>
            <a:r>
              <a:rPr lang="en-US" dirty="0"/>
              <a:t> </a:t>
            </a:r>
            <a:r>
              <a:rPr lang="en-US" dirty="0" err="1"/>
              <a:t>okuyup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sınıfın</a:t>
            </a:r>
            <a:r>
              <a:rPr lang="en-US" dirty="0"/>
              <a:t> </a:t>
            </a:r>
            <a:r>
              <a:rPr lang="en-US" dirty="0" err="1"/>
              <a:t>alanlarına</a:t>
            </a:r>
            <a:r>
              <a:rPr lang="en-US" dirty="0"/>
              <a:t> </a:t>
            </a:r>
            <a:r>
              <a:rPr lang="en-US" dirty="0" err="1"/>
              <a:t>bağlayacağını</a:t>
            </a:r>
            <a:r>
              <a:rPr lang="en-US" dirty="0"/>
              <a:t> </a:t>
            </a:r>
            <a:r>
              <a:rPr lang="en-US" dirty="0" err="1"/>
              <a:t>belirtir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/>
              <a:t>Spring</a:t>
            </a:r>
            <a:r>
              <a:rPr lang="en-US" dirty="0"/>
              <a:t> </a:t>
            </a:r>
            <a:r>
              <a:rPr lang="en-US" b="1" dirty="0"/>
              <a:t>Security</a:t>
            </a:r>
            <a:r>
              <a:rPr lang="en-US" dirty="0"/>
              <a:t>, </a:t>
            </a:r>
            <a:r>
              <a:rPr lang="en-US" b="1" dirty="0"/>
              <a:t>JWT</a:t>
            </a:r>
            <a:r>
              <a:rPr lang="en-US" dirty="0"/>
              <a:t> </a:t>
            </a:r>
            <a:r>
              <a:rPr lang="en-US" dirty="0" err="1"/>
              <a:t>token’ları</a:t>
            </a:r>
            <a:r>
              <a:rPr lang="en-US" dirty="0"/>
              <a:t> </a:t>
            </a:r>
            <a:r>
              <a:rPr lang="en-US" dirty="0" err="1"/>
              <a:t>doğrudan</a:t>
            </a:r>
            <a:r>
              <a:rPr lang="en-US" dirty="0"/>
              <a:t> </a:t>
            </a:r>
            <a:r>
              <a:rPr lang="en-US" dirty="0" err="1"/>
              <a:t>işleyebilme</a:t>
            </a:r>
            <a:r>
              <a:rPr lang="en-US" dirty="0"/>
              <a:t> </a:t>
            </a:r>
            <a:r>
              <a:rPr lang="en-US" dirty="0" err="1"/>
              <a:t>yeteneğine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</a:t>
            </a:r>
            <a:r>
              <a:rPr lang="en-US" dirty="0" err="1"/>
              <a:t>Keycloak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yetkilendirme</a:t>
            </a:r>
            <a:r>
              <a:rPr lang="en-US" dirty="0"/>
              <a:t> </a:t>
            </a:r>
            <a:r>
              <a:rPr lang="en-US" dirty="0" err="1"/>
              <a:t>sunucuları</a:t>
            </a:r>
            <a:r>
              <a:rPr lang="en-US" dirty="0"/>
              <a:t>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üretilen</a:t>
            </a:r>
            <a:r>
              <a:rPr lang="en-US" dirty="0"/>
              <a:t> </a:t>
            </a:r>
            <a:r>
              <a:rPr lang="en-US" b="1" dirty="0"/>
              <a:t>JWT</a:t>
            </a:r>
            <a:r>
              <a:rPr lang="en-US" dirty="0"/>
              <a:t> </a:t>
            </a:r>
            <a:r>
              <a:rPr lang="en-US" b="1" dirty="0"/>
              <a:t>token</a:t>
            </a:r>
            <a:r>
              <a:rPr lang="en-US" dirty="0"/>
              <a:t>’ </a:t>
            </a:r>
            <a:r>
              <a:rPr lang="en-US" dirty="0" err="1"/>
              <a:t>lar</a:t>
            </a:r>
            <a:r>
              <a:rPr lang="en-US" dirty="0"/>
              <a:t>, Spring Security’ </a:t>
            </a:r>
            <a:r>
              <a:rPr lang="en-US" dirty="0" err="1"/>
              <a:t>nin</a:t>
            </a:r>
            <a:r>
              <a:rPr lang="en-US" dirty="0"/>
              <a:t> </a:t>
            </a:r>
            <a:r>
              <a:rPr lang="en-US" dirty="0" err="1"/>
              <a:t>beklediği</a:t>
            </a:r>
            <a:r>
              <a:rPr lang="en-US" dirty="0"/>
              <a:t> </a:t>
            </a:r>
            <a:r>
              <a:rPr lang="en-US" dirty="0" err="1"/>
              <a:t>formatta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. Bu </a:t>
            </a:r>
            <a:r>
              <a:rPr lang="en-US" dirty="0" err="1"/>
              <a:t>formata</a:t>
            </a:r>
            <a:r>
              <a:rPr lang="en-US" dirty="0"/>
              <a:t> </a:t>
            </a:r>
            <a:r>
              <a:rPr lang="en-US" dirty="0" err="1"/>
              <a:t>dönüştürmek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Converter interface’ </a:t>
            </a:r>
            <a:r>
              <a:rPr lang="en-US" dirty="0" err="1"/>
              <a:t>indeki</a:t>
            </a:r>
            <a:r>
              <a:rPr lang="en-US" dirty="0"/>
              <a:t> convert </a:t>
            </a:r>
            <a:r>
              <a:rPr lang="en-US" dirty="0" err="1"/>
              <a:t>metodunu</a:t>
            </a:r>
            <a:r>
              <a:rPr lang="en-US" dirty="0"/>
              <a:t> override </a:t>
            </a:r>
            <a:r>
              <a:rPr lang="en-US" dirty="0" err="1"/>
              <a:t>etmelidir</a:t>
            </a:r>
            <a:r>
              <a:rPr lang="en-US" dirty="0"/>
              <a:t>. </a:t>
            </a:r>
            <a:r>
              <a:rPr lang="en-US" dirty="0" err="1"/>
              <a:t>Dönüşüm</a:t>
            </a:r>
            <a:r>
              <a:rPr lang="en-US" dirty="0"/>
              <a:t> </a:t>
            </a:r>
            <a:r>
              <a:rPr lang="en-US" dirty="0" err="1"/>
              <a:t>sırasında</a:t>
            </a:r>
            <a:r>
              <a:rPr lang="en-US" dirty="0"/>
              <a:t>, token’ </a:t>
            </a:r>
            <a:r>
              <a:rPr lang="en-US" dirty="0" err="1"/>
              <a:t>daki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bilgilerini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rollerini</a:t>
            </a:r>
            <a:r>
              <a:rPr lang="en-US" dirty="0"/>
              <a:t> </a:t>
            </a:r>
            <a:r>
              <a:rPr lang="en-US" dirty="0" err="1"/>
              <a:t>ayıklar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en-US" b="1" dirty="0" err="1"/>
              <a:t>Uygulamanın</a:t>
            </a:r>
            <a:r>
              <a:rPr lang="en-US" b="1" dirty="0"/>
              <a:t> Test </a:t>
            </a:r>
            <a:r>
              <a:rPr lang="en-US" b="1" dirty="0" err="1"/>
              <a:t>Edilmesi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Postman’ de security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ayarlamak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Autherization</a:t>
            </a:r>
            <a:r>
              <a:rPr lang="en-US" dirty="0"/>
              <a:t> </a:t>
            </a:r>
            <a:r>
              <a:rPr lang="en-US" dirty="0" err="1"/>
              <a:t>sekmesi</a:t>
            </a:r>
            <a:r>
              <a:rPr lang="en-US" dirty="0"/>
              <a:t> </a:t>
            </a:r>
            <a:r>
              <a:rPr lang="en-US" dirty="0" err="1"/>
              <a:t>altında</a:t>
            </a:r>
            <a:r>
              <a:rPr lang="en-US" dirty="0"/>
              <a:t> </a:t>
            </a:r>
            <a:r>
              <a:rPr lang="en-US" dirty="0" err="1"/>
              <a:t>bareer</a:t>
            </a:r>
            <a:r>
              <a:rPr lang="en-US" dirty="0"/>
              <a:t> token </a:t>
            </a:r>
            <a:r>
              <a:rPr lang="en-US" dirty="0" err="1"/>
              <a:t>seçilir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yanda</a:t>
            </a:r>
            <a:r>
              <a:rPr lang="en-US" dirty="0"/>
              <a:t> </a:t>
            </a:r>
            <a:r>
              <a:rPr lang="en-US" dirty="0" err="1"/>
              <a:t>bulunan</a:t>
            </a:r>
            <a:r>
              <a:rPr lang="en-US" dirty="0"/>
              <a:t> </a:t>
            </a:r>
            <a:r>
              <a:rPr lang="en-US" dirty="0" err="1"/>
              <a:t>alana</a:t>
            </a:r>
            <a:r>
              <a:rPr lang="en-US" dirty="0"/>
              <a:t>,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edilen</a:t>
            </a:r>
            <a:r>
              <a:rPr lang="en-US" dirty="0"/>
              <a:t> token </a:t>
            </a:r>
            <a:r>
              <a:rPr lang="en-US" dirty="0" err="1"/>
              <a:t>değeri</a:t>
            </a:r>
            <a:r>
              <a:rPr lang="en-US" dirty="0"/>
              <a:t> </a:t>
            </a:r>
            <a:r>
              <a:rPr lang="en-US" dirty="0" err="1"/>
              <a:t>eklenir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4389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71" y="176213"/>
            <a:ext cx="11611778" cy="6455941"/>
          </a:xfrm>
        </p:spPr>
      </p:pic>
    </p:spTree>
    <p:extLst>
      <p:ext uri="{BB962C8B-B14F-4D97-AF65-F5344CB8AC3E}">
        <p14:creationId xmlns:p14="http://schemas.microsoft.com/office/powerpoint/2010/main" val="2354798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271" y="176270"/>
            <a:ext cx="11876182" cy="65219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Bunu</a:t>
            </a:r>
            <a:r>
              <a:rPr lang="en-US" sz="2400" dirty="0"/>
              <a:t> </a:t>
            </a:r>
            <a:r>
              <a:rPr lang="en-US" sz="2400" dirty="0" err="1"/>
              <a:t>örnek</a:t>
            </a:r>
            <a:r>
              <a:rPr lang="en-US" sz="2400" dirty="0"/>
              <a:t> bir </a:t>
            </a:r>
            <a:r>
              <a:rPr lang="en-US" sz="2400" dirty="0" err="1"/>
              <a:t>senaryo</a:t>
            </a:r>
            <a:r>
              <a:rPr lang="en-US" sz="2400" dirty="0"/>
              <a:t> </a:t>
            </a:r>
            <a:r>
              <a:rPr lang="en-US" sz="2400" dirty="0" err="1"/>
              <a:t>üzerinde</a:t>
            </a:r>
            <a:r>
              <a:rPr lang="en-US" sz="2400" dirty="0"/>
              <a:t> </a:t>
            </a:r>
            <a:r>
              <a:rPr lang="en-US" sz="2400" dirty="0" err="1"/>
              <a:t>inceleyelim</a:t>
            </a:r>
            <a:r>
              <a:rPr lang="en-US" sz="2400" dirty="0"/>
              <a:t>. </a:t>
            </a:r>
            <a:r>
              <a:rPr lang="en-US" sz="2400" b="1" dirty="0" err="1"/>
              <a:t>client_user</a:t>
            </a:r>
            <a:r>
              <a:rPr lang="en-US" sz="2400" dirty="0"/>
              <a:t> </a:t>
            </a:r>
            <a:r>
              <a:rPr lang="en-US" sz="2400" dirty="0" err="1"/>
              <a:t>rolüne</a:t>
            </a:r>
            <a:r>
              <a:rPr lang="en-US" sz="2400" dirty="0"/>
              <a:t> </a:t>
            </a:r>
            <a:r>
              <a:rPr lang="en-US" sz="2400" dirty="0" err="1"/>
              <a:t>sahip</a:t>
            </a:r>
            <a:r>
              <a:rPr lang="en-US" sz="2400" dirty="0"/>
              <a:t> </a:t>
            </a:r>
            <a:r>
              <a:rPr lang="en-US" sz="2400" dirty="0" err="1"/>
              <a:t>kullanıcı</a:t>
            </a:r>
            <a:r>
              <a:rPr lang="en-US" sz="2400" dirty="0"/>
              <a:t> </a:t>
            </a:r>
            <a:r>
              <a:rPr lang="en-US" sz="2400" dirty="0" err="1"/>
              <a:t>önce</a:t>
            </a:r>
            <a:r>
              <a:rPr lang="en-US" sz="2400" dirty="0"/>
              <a:t> </a:t>
            </a:r>
            <a:r>
              <a:rPr lang="en-US" sz="2400" dirty="0" err="1"/>
              <a:t>sırasıyla</a:t>
            </a:r>
            <a:r>
              <a:rPr lang="en-US" sz="2400" dirty="0"/>
              <a:t> </a:t>
            </a:r>
            <a:r>
              <a:rPr lang="en-US" sz="2400" dirty="0" err="1"/>
              <a:t>projemizdeki</a:t>
            </a:r>
            <a:r>
              <a:rPr lang="en-US" sz="2400" dirty="0"/>
              <a:t> </a:t>
            </a:r>
            <a:r>
              <a:rPr lang="en-US" sz="2400" dirty="0" err="1"/>
              <a:t>tüm</a:t>
            </a:r>
            <a:r>
              <a:rPr lang="en-US" sz="2400" dirty="0"/>
              <a:t> </a:t>
            </a:r>
            <a:r>
              <a:rPr lang="en-US" sz="2400" dirty="0" err="1"/>
              <a:t>endpointlere</a:t>
            </a:r>
            <a:r>
              <a:rPr lang="en-US" sz="2400" dirty="0"/>
              <a:t> </a:t>
            </a:r>
            <a:r>
              <a:rPr lang="en-US" sz="2400" dirty="0" err="1"/>
              <a:t>istek</a:t>
            </a:r>
            <a:r>
              <a:rPr lang="en-US" sz="2400" dirty="0"/>
              <a:t> </a:t>
            </a:r>
            <a:r>
              <a:rPr lang="en-US" sz="2400" dirty="0" err="1"/>
              <a:t>atsın</a:t>
            </a:r>
            <a:r>
              <a:rPr lang="en-US" sz="2400" dirty="0"/>
              <a:t>. </a:t>
            </a:r>
            <a:r>
              <a:rPr lang="en-US" sz="2400" dirty="0" err="1"/>
              <a:t>Aşağıdaki</a:t>
            </a:r>
            <a:r>
              <a:rPr lang="en-US" sz="2400" dirty="0"/>
              <a:t> </a:t>
            </a:r>
            <a:r>
              <a:rPr lang="en-US" sz="2400" dirty="0" err="1"/>
              <a:t>şekilde</a:t>
            </a:r>
            <a:r>
              <a:rPr lang="en-US" sz="2400" dirty="0"/>
              <a:t> de </a:t>
            </a:r>
            <a:r>
              <a:rPr lang="en-US" sz="2400" dirty="0" err="1"/>
              <a:t>gösterildiği</a:t>
            </a:r>
            <a:r>
              <a:rPr lang="en-US" sz="2400" dirty="0"/>
              <a:t> </a:t>
            </a:r>
            <a:r>
              <a:rPr lang="en-US" sz="2400" dirty="0" err="1"/>
              <a:t>gibi</a:t>
            </a:r>
            <a:r>
              <a:rPr lang="en-US" sz="2400" dirty="0"/>
              <a:t> </a:t>
            </a:r>
            <a:r>
              <a:rPr lang="en-US" sz="2400" b="1" dirty="0"/>
              <a:t>client-user</a:t>
            </a:r>
            <a:r>
              <a:rPr lang="en-US" sz="2400" dirty="0"/>
              <a:t> </a:t>
            </a:r>
            <a:r>
              <a:rPr lang="en-US" sz="2400" dirty="0" err="1"/>
              <a:t>rolüyle</a:t>
            </a:r>
            <a:r>
              <a:rPr lang="en-US" sz="2400" dirty="0"/>
              <a:t> </a:t>
            </a:r>
            <a:r>
              <a:rPr lang="en-US" sz="2400" dirty="0" err="1"/>
              <a:t>yetkilendirilmeyen</a:t>
            </a:r>
            <a:r>
              <a:rPr lang="en-US" sz="2400" dirty="0"/>
              <a:t> </a:t>
            </a:r>
            <a:r>
              <a:rPr lang="en-US" sz="2400" b="1" dirty="0" err="1"/>
              <a:t>endpoint’lere</a:t>
            </a:r>
            <a:r>
              <a:rPr lang="en-US" sz="2400" dirty="0"/>
              <a:t> </a:t>
            </a:r>
            <a:r>
              <a:rPr lang="en-US" sz="2400" dirty="0" err="1"/>
              <a:t>istek</a:t>
            </a:r>
            <a:r>
              <a:rPr lang="en-US" sz="2400" dirty="0"/>
              <a:t> </a:t>
            </a:r>
            <a:r>
              <a:rPr lang="en-US" sz="2400" dirty="0" err="1"/>
              <a:t>atıldığında</a:t>
            </a:r>
            <a:r>
              <a:rPr lang="en-US" sz="2400" dirty="0"/>
              <a:t> </a:t>
            </a:r>
            <a:r>
              <a:rPr lang="en-US" sz="2400" b="1" dirty="0"/>
              <a:t>403</a:t>
            </a:r>
            <a:r>
              <a:rPr lang="en-US" sz="2400" dirty="0"/>
              <a:t> </a:t>
            </a:r>
            <a:r>
              <a:rPr lang="en-US" sz="2400" b="1" dirty="0"/>
              <a:t>Forbidden</a:t>
            </a:r>
            <a:r>
              <a:rPr lang="en-US" sz="2400" dirty="0"/>
              <a:t> </a:t>
            </a:r>
            <a:r>
              <a:rPr lang="en-US" sz="2400" dirty="0" err="1"/>
              <a:t>hatası</a:t>
            </a:r>
            <a:r>
              <a:rPr lang="en-US" sz="2400" dirty="0"/>
              <a:t> </a:t>
            </a:r>
            <a:r>
              <a:rPr lang="en-US" sz="2400" dirty="0" err="1"/>
              <a:t>veriyor</a:t>
            </a:r>
            <a:r>
              <a:rPr lang="en-US" sz="2400" dirty="0"/>
              <a:t>, </a:t>
            </a:r>
            <a:r>
              <a:rPr lang="en-US" sz="2400" dirty="0" err="1"/>
              <a:t>diğerlerinde</a:t>
            </a:r>
            <a:r>
              <a:rPr lang="en-US" sz="2400" dirty="0"/>
              <a:t> </a:t>
            </a:r>
            <a:r>
              <a:rPr lang="en-US" sz="2400" dirty="0" err="1"/>
              <a:t>başarılı</a:t>
            </a:r>
            <a:r>
              <a:rPr lang="en-US" sz="2400" dirty="0"/>
              <a:t> bir </a:t>
            </a:r>
            <a:r>
              <a:rPr lang="en-US" sz="2400" dirty="0" err="1"/>
              <a:t>şekilde</a:t>
            </a:r>
            <a:r>
              <a:rPr lang="en-US" sz="2400" dirty="0"/>
              <a:t> </a:t>
            </a:r>
            <a:r>
              <a:rPr lang="en-US" sz="2400" dirty="0" err="1"/>
              <a:t>istek</a:t>
            </a:r>
            <a:r>
              <a:rPr lang="en-US" sz="2400" dirty="0"/>
              <a:t> </a:t>
            </a:r>
            <a:r>
              <a:rPr lang="en-US" sz="2400" dirty="0" err="1"/>
              <a:t>gönderilebiliyor</a:t>
            </a:r>
            <a:r>
              <a:rPr lang="en-US" sz="2400" dirty="0"/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23" y="1553378"/>
            <a:ext cx="10624651" cy="51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17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2" y="341524"/>
            <a:ext cx="11828448" cy="6092326"/>
          </a:xfrm>
        </p:spPr>
      </p:pic>
    </p:spTree>
    <p:extLst>
      <p:ext uri="{BB962C8B-B14F-4D97-AF65-F5344CB8AC3E}">
        <p14:creationId xmlns:p14="http://schemas.microsoft.com/office/powerpoint/2010/main" val="1924099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5535</TotalTime>
  <Words>713</Words>
  <Application>Microsoft Office PowerPoint</Application>
  <PresentationFormat>Widescreen</PresentationFormat>
  <Paragraphs>97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Keycloak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Windows User</cp:lastModifiedBy>
  <cp:revision>15</cp:revision>
  <dcterms:created xsi:type="dcterms:W3CDTF">2024-09-11T02:49:33Z</dcterms:created>
  <dcterms:modified xsi:type="dcterms:W3CDTF">2026-04-25T11:09:26Z</dcterms:modified>
</cp:coreProperties>
</file>